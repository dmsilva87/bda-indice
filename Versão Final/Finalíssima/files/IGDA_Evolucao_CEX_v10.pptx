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rawings/drawing1.xml" ContentType="application/vnd.openxmlformats-officedocument.drawingml.chartshapes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jpg" ContentType="image/jpg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5.jpg" ContentType="image/jpg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</p:sldMasterIdLst>
  <p:notesMasterIdLst>
    <p:notesMasterId r:id="rId17"/>
  </p:notesMasterIdLst>
  <p:sldIdLst>
    <p:sldId id="460" r:id="rId6"/>
    <p:sldId id="257" r:id="rId7"/>
    <p:sldId id="489" r:id="rId8"/>
    <p:sldId id="496" r:id="rId9"/>
    <p:sldId id="497" r:id="rId24"/>
    <p:sldId id="498" r:id="rId25"/>
    <p:sldId id="490" r:id="rId10"/>
    <p:sldId id="492" r:id="rId11"/>
    <p:sldId id="499" r:id="rId26"/>
    <p:sldId id="501" r:id="rId28"/>
    <p:sldId id="502" r:id="rId29"/>
    <p:sldId id="491" r:id="rId12"/>
    <p:sldId id="493" r:id="rId13"/>
    <p:sldId id="494" r:id="rId14"/>
    <p:sldId id="495" r:id="rId15"/>
    <p:sldId id="500" r:id="rId27"/>
    <p:sldId id="487" r:id="rId16"/>
  </p:sldIdLst>
  <p:sldSz cx="12192000" cy="6858000"/>
  <p:notesSz cx="9926638" cy="6797675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BF0548-576F-21DC-BBA6-61664DEDF93B}" name="Patrick Guimarães (DFI)" initials="PG" userId="S::patrick.guimaraes@bda.ao::c4b08221-c28c-43d4-a84d-9316b6a5a4d9" providerId="AD"/>
  <p188:author id="{DC08D27F-D642-02EC-DF99-2447360A5756}" name="Euridce Santos (GOE)" initials="ES" userId="S::euridce.santos@bda.ao::efc024dc-ba62-436c-af54-f75812873801" providerId="AD"/>
  <p188:author id="{B39BA185-FB03-BB8F-3D96-272A412AB890}" name="Alberto Mateus (GEP)" initials="AM" userId="S::alberto.mateus@bda.ao::a31bdbb8-fc53-4a86-91c4-0bdbba2bb7d7" providerId="AD"/>
  <p188:author id="{7B993793-B4E5-AE55-21C2-9E74C598AE0C}" name="Ebo Ebo" initials="EE" userId="S::EboEbo@CECorp.onmicrosoft.com::a45ecad6-1f36-490a-b99e-a40771eeadf9" providerId="AD"/>
  <p188:author id="{3FADE8BD-46F3-D3C6-0B74-59C69D8521FB}" name="Edivaldo Santana Zongo (DFI)" initials="ES" userId="S::edivaldo.zongo@bda.ao::50d1f46b-eb46-47ba-8fea-dff5411b2752" providerId="AD"/>
  <p188:author id="{911845E6-008D-76DA-AFA4-B3A87C7CEF9E}" name="Calisto Ebo" initials="CE" userId="S::calisto.ebo@bda.ao::a83d0e94-adf9-444d-859c-16df8177b9f5" providerId="AD"/>
  <p188:author id="{F98DECEB-2266-2DBD-B53E-906199511935}" name="Edson Sousa (DNA)" initials="ES" userId="S::edson.sousa@bda.ao::71a06670-094f-47da-be70-359b55a8dc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80E"/>
    <a:srgbClr val="843F06"/>
    <a:srgbClr val="CC0000"/>
    <a:srgbClr val="F8A764"/>
    <a:srgbClr val="C0504D"/>
    <a:srgbClr val="FFCC00"/>
    <a:srgbClr val="582A04"/>
    <a:srgbClr val="CC9900"/>
    <a:srgbClr val="9BBB59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157DB-B0F8-4A73-AD93-9E28E9A43356}" v="31" dt="2026-08-17T14:13:47.0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Estilo Escuro 1 - Destaqu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2895" autoAdjust="0"/>
  </p:normalViewPr>
  <p:slideViewPr>
    <p:cSldViewPr>
      <p:cViewPr varScale="1">
        <p:scale>
          <a:sx n="59" d="100"/>
          <a:sy n="59" d="100"/>
        </p:scale>
        <p:origin x="848" y="4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9.xml"/><Relationship Id="rId27" Type="http://schemas.openxmlformats.org/officeDocument/2006/relationships/slide" Target="slides/slide15.xml"/><Relationship Id="rId28" Type="http://schemas.openxmlformats.org/officeDocument/2006/relationships/slide" Target="slides/slide10.xml"/><Relationship Id="rId29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Relationship Id="rId4" Type="http://schemas.openxmlformats.org/officeDocument/2006/relationships/chartUserShapes" Target="../drawings/drawing1.xm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file:///C:\Users\alberto.mateus\Desktop\GEP\IGDA%20_%20Evolu&#231;&#227;o\Evolu&#231;&#227;o%20_%20IGDA_BDA_Indice_Desenvolvimento_Angola%20(00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375731394422264E-2"/>
          <c:y val="0.14444946720863763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EVOLUÇÃO DO IGDA-BDA (Índice Global)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layout>
                <c:manualLayout>
                  <c:x val="-4.7540010170337453E-2"/>
                  <c:y val="-7.99571833906111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30-4E48-957D-96F3F90877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A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42.2497018188394</c:v>
                </c:pt>
                <c:pt idx="1">
                  <c:v>42.49725307006943</c:v>
                </c:pt>
                <c:pt idx="2">
                  <c:v>42.202566399358226</c:v>
                </c:pt>
                <c:pt idx="3">
                  <c:v>42.57947139399472</c:v>
                </c:pt>
                <c:pt idx="4">
                  <c:v>42.548040766467416</c:v>
                </c:pt>
                <c:pt idx="5">
                  <c:v>39.718181850384276</c:v>
                </c:pt>
                <c:pt idx="6">
                  <c:v>43.57634831773558</c:v>
                </c:pt>
                <c:pt idx="7">
                  <c:v>44.39131861815153</c:v>
                </c:pt>
                <c:pt idx="8">
                  <c:v>44.60370161705667</c:v>
                </c:pt>
                <c:pt idx="9">
                  <c:v>45.684296593548</c:v>
                </c:pt>
                <c:pt idx="10">
                  <c:v>45.662917854175184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30-4E48-957D-96F3F90877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75"/>
          <c:min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64331410562963"/>
          <c:y val="5.4883264652170076E-2"/>
          <c:w val="0.86035677022191015"/>
          <c:h val="0.784695952025325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 Governança e Estado de Direito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27.415798000000002</c:v>
                </c:pt>
                <c:pt idx="1">
                  <c:v>28.027149599999994</c:v>
                </c:pt>
                <c:pt idx="2">
                  <c:v>27.731903199999998</c:v>
                </c:pt>
                <c:pt idx="3">
                  <c:v>29.570946399999997</c:v>
                </c:pt>
                <c:pt idx="4">
                  <c:v>31.678183999999998</c:v>
                </c:pt>
                <c:pt idx="5">
                  <c:v>30.8179624</c:v>
                </c:pt>
                <c:pt idx="6">
                  <c:v>31.100242</c:v>
                </c:pt>
                <c:pt idx="7">
                  <c:v>33.0063816</c:v>
                </c:pt>
                <c:pt idx="8">
                  <c:v>33.6373872</c:v>
                </c:pt>
                <c:pt idx="9">
                  <c:v>33.1938076</c:v>
                </c:pt>
                <c:pt idx="10">
                  <c:v>33.1938076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F2D-4D06-83C4-9E737DF89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49487"/>
        <c:axId val="429756687"/>
      </c:lineChart>
      <c:catAx>
        <c:axId val="42974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6687"/>
        <c:crosses val="autoZero"/>
        <c:auto val="1"/>
        <c:lblAlgn val="ctr"/>
        <c:lblOffset val="100"/>
        <c:noMultiLvlLbl val="0"/>
      </c:catAx>
      <c:valAx>
        <c:axId val="42975668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>
              <a:softEdge rad="88900"/>
            </a:effectLst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49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2. Estabilidade Macroeconómica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48.74793953630748</c:v>
                </c:pt>
                <c:pt idx="1">
                  <c:v>43.99219652021693</c:v>
                </c:pt>
                <c:pt idx="2">
                  <c:v>42.458424216885085</c:v>
                </c:pt>
                <c:pt idx="3">
                  <c:v>46.62362619704472</c:v>
                </c:pt>
                <c:pt idx="4">
                  <c:v>43.72271050921044</c:v>
                </c:pt>
                <c:pt idx="5">
                  <c:v>34.07617404612649</c:v>
                </c:pt>
                <c:pt idx="6">
                  <c:v>48.55714545637705</c:v>
                </c:pt>
                <c:pt idx="7">
                  <c:v>50.23822101747226</c:v>
                </c:pt>
                <c:pt idx="8">
                  <c:v>46.65107665350037</c:v>
                </c:pt>
                <c:pt idx="9">
                  <c:v>49.00175623787552</c:v>
                </c:pt>
                <c:pt idx="10">
                  <c:v>49.312614441449774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4E-4A67-9F89-4E860C49A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80"/>
          <c:min val="5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39207635233E-2"/>
          <c:y val="8.9076118475235749E-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Capital Humano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50.4790343816302</c:v>
                </c:pt>
                <c:pt idx="1">
                  <c:v>56.861999734226245</c:v>
                </c:pt>
                <c:pt idx="2">
                  <c:v>56.57129959172471</c:v>
                </c:pt>
                <c:pt idx="3">
                  <c:v>56.25732948220388</c:v>
                </c:pt>
                <c:pt idx="4">
                  <c:v>56.30287462975375</c:v>
                </c:pt>
                <c:pt idx="5">
                  <c:v>57.924943128556905</c:v>
                </c:pt>
                <c:pt idx="6">
                  <c:v>56.99487257971136</c:v>
                </c:pt>
                <c:pt idx="7">
                  <c:v>58.04750002451839</c:v>
                </c:pt>
                <c:pt idx="8">
                  <c:v>58.68872192477497</c:v>
                </c:pt>
                <c:pt idx="9">
                  <c:v>58.94316636921941</c:v>
                </c:pt>
                <c:pt idx="10">
                  <c:v>59.051499702552746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BD9-4E4A-AF70-587DB3DFF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  <c:max val="80"/>
          <c:min val="2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4. Inclusão Social e Protecção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50.76833855799372</c:v>
                </c:pt>
                <c:pt idx="1">
                  <c:v>47.54305120167188</c:v>
                </c:pt>
                <c:pt idx="2">
                  <c:v>42.71229536746781</c:v>
                </c:pt>
                <c:pt idx="3">
                  <c:v>42.1571229536747</c:v>
                </c:pt>
                <c:pt idx="4">
                  <c:v>42.72241379310345</c:v>
                </c:pt>
                <c:pt idx="5">
                  <c:v>42.11494252873563</c:v>
                </c:pt>
                <c:pt idx="6">
                  <c:v>41.67046325322185</c:v>
                </c:pt>
                <c:pt idx="7">
                  <c:v>44.06847788227097</c:v>
                </c:pt>
                <c:pt idx="8">
                  <c:v>45.496064089167525</c:v>
                </c:pt>
                <c:pt idx="9">
                  <c:v>49.63866248693832</c:v>
                </c:pt>
                <c:pt idx="10">
                  <c:v>49.40912574016022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BF-4D35-B19F-CB56064CF0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5727"/>
        <c:axId val="429750927"/>
      </c:lineChart>
      <c:catAx>
        <c:axId val="429755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0927"/>
        <c:crosses val="autoZero"/>
        <c:auto val="1"/>
        <c:lblAlgn val="ctr"/>
        <c:lblOffset val="100"/>
        <c:noMultiLvlLbl val="0"/>
      </c:catAx>
      <c:valAx>
        <c:axId val="429750927"/>
        <c:scaling>
          <c:orientation val="minMax"/>
          <c:max val="80"/>
          <c:min val="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5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452324791647025E-2"/>
          <c:y val="3.8510206267411161E-2"/>
          <c:w val="0.89336235256802343"/>
          <c:h val="0.760222553714436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5. Infraestruturas e Serviços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46.19012624015354</c:v>
                </c:pt>
                <c:pt idx="1">
                  <c:v>43.42905240371038</c:v>
                </c:pt>
                <c:pt idx="2">
                  <c:v>46.180449108757486</c:v>
                </c:pt>
                <c:pt idx="3">
                  <c:v>45.53573148109375</c:v>
                </c:pt>
                <c:pt idx="4">
                  <c:v>46.92695554079468</c:v>
                </c:pt>
                <c:pt idx="5">
                  <c:v>46.137179442064095</c:v>
                </c:pt>
                <c:pt idx="6">
                  <c:v>47.32122487722034</c:v>
                </c:pt>
                <c:pt idx="7">
                  <c:v>48.239705463956</c:v>
                </c:pt>
                <c:pt idx="8">
                  <c:v>48.93227171843661</c:v>
                </c:pt>
                <c:pt idx="9">
                  <c:v>49.90842844484224</c:v>
                </c:pt>
                <c:pt idx="10">
                  <c:v>49.90842844484224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5E-4F36-8A5B-1C4402556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93647"/>
        <c:axId val="429781647"/>
      </c:lineChart>
      <c:catAx>
        <c:axId val="429793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81647"/>
        <c:crosses val="autoZero"/>
        <c:auto val="1"/>
        <c:lblAlgn val="ctr"/>
        <c:lblOffset val="100"/>
        <c:noMultiLvlLbl val="0"/>
      </c:catAx>
      <c:valAx>
        <c:axId val="429781647"/>
        <c:scaling>
          <c:orientation val="minMax"/>
          <c:max val="75"/>
          <c:min val="15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93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6. Mercado de Trabalho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54.259352000000014</c:v>
                </c:pt>
                <c:pt idx="1">
                  <c:v>53.956936000000006</c:v>
                </c:pt>
                <c:pt idx="2">
                  <c:v>53.91272</c:v>
                </c:pt>
                <c:pt idx="3">
                  <c:v>53.87541600000001</c:v>
                </c:pt>
                <c:pt idx="4">
                  <c:v>53.993488</c:v>
                </c:pt>
                <c:pt idx="5">
                  <c:v>52.470431999999995</c:v>
                </c:pt>
                <c:pt idx="6">
                  <c:v>54.939015999999995</c:v>
                </c:pt>
                <c:pt idx="7">
                  <c:v>56.76009599999999</c:v>
                </c:pt>
                <c:pt idx="8">
                  <c:v>56.425528</c:v>
                </c:pt>
                <c:pt idx="9">
                  <c:v>56.53384000000001</c:v>
                </c:pt>
                <c:pt idx="10">
                  <c:v>56.183528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D84-4E68-955B-DC461DBC8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204400656292266E-2"/>
          <c:y val="0.11218232719808628"/>
          <c:w val="0.89455358908591132"/>
          <c:h val="0.76022242133849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7. Segurança Alimentar e Saúde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59.24485122952381</c:v>
                </c:pt>
                <c:pt idx="1">
                  <c:v>58.28185484238095</c:v>
                </c:pt>
                <c:pt idx="2">
                  <c:v>57.759990908571424</c:v>
                </c:pt>
                <c:pt idx="3">
                  <c:v>58.24864269571429</c:v>
                </c:pt>
                <c:pt idx="4">
                  <c:v>58.239980912380965</c:v>
                </c:pt>
                <c:pt idx="5">
                  <c:v>58.15015419904762</c:v>
                </c:pt>
                <c:pt idx="6">
                  <c:v>56.50379295809523</c:v>
                </c:pt>
                <c:pt idx="7">
                  <c:v>56.375636221904756</c:v>
                </c:pt>
                <c:pt idx="8">
                  <c:v>58.25554966095238</c:v>
                </c:pt>
                <c:pt idx="9">
                  <c:v>57.0218353752381</c:v>
                </c:pt>
                <c:pt idx="10">
                  <c:v>57.0218353752381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117-4662-9F62-F971D176D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66287"/>
        <c:axId val="429764847"/>
      </c:lineChart>
      <c:catAx>
        <c:axId val="42976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4847"/>
        <c:crosses val="autoZero"/>
        <c:auto val="1"/>
        <c:lblAlgn val="ctr"/>
        <c:lblOffset val="100"/>
        <c:noMultiLvlLbl val="0"/>
      </c:catAx>
      <c:valAx>
        <c:axId val="429764847"/>
        <c:scaling>
          <c:orientation val="minMax"/>
          <c:max val="80"/>
          <c:min val="1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6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36482939632549E-2"/>
          <c:y val="0.19486111111111112"/>
          <c:w val="0.85859272473753268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8. Diversificação Produtiva e Setor Privado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19.964281072755185</c:v>
                </c:pt>
                <c:pt idx="1">
                  <c:v>23.370183209191975</c:v>
                </c:pt>
                <c:pt idx="2">
                  <c:v>24.594713541811885</c:v>
                </c:pt>
                <c:pt idx="3">
                  <c:v>23.123417006898375</c:v>
                </c:pt>
                <c:pt idx="4">
                  <c:v>21.847303422876468</c:v>
                </c:pt>
                <c:pt idx="5">
                  <c:v>17.17282525644753</c:v>
                </c:pt>
                <c:pt idx="6">
                  <c:v>24.67806943479478</c:v>
                </c:pt>
                <c:pt idx="7">
                  <c:v>23.030395767836172</c:v>
                </c:pt>
                <c:pt idx="8">
                  <c:v>23.24590698908722</c:v>
                </c:pt>
                <c:pt idx="9">
                  <c:v>24.77933895430645</c:v>
                </c:pt>
                <c:pt idx="10">
                  <c:v>24.75323584683132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00-4C80-9B19-84CE18B9E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9759087"/>
        <c:axId val="429760047"/>
      </c:lineChart>
      <c:catAx>
        <c:axId val="42975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60047"/>
        <c:crosses val="autoZero"/>
        <c:auto val="1"/>
        <c:lblAlgn val="ctr"/>
        <c:lblOffset val="100"/>
        <c:noMultiLvlLbl val="0"/>
      </c:catAx>
      <c:valAx>
        <c:axId val="429760047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2975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0.01523</cdr:x>
      <cdr:y>0</cdr:y>
    </cdr:from>
    <cdr:to>
      <cdr:x>0.11086</cdr:x>
      <cdr:y>0.15935</cdr:y>
    </cdr:to>
    <cdr:sp macro="" textlink="">
      <cdr:nvSpPr>
        <cdr:cNvPr id="2" name="Retângulo: Cantos Arredondados 1">
          <a:extLst xmlns:a="http://schemas.openxmlformats.org/drawingml/2006/main">
            <a:ext uri="{FF2B5EF4-FFF2-40B4-BE49-F238E27FC236}">
              <a16:creationId xmlns:a16="http://schemas.microsoft.com/office/drawing/2014/main" id="{496A72BF-71B6-A600-F750-DB5F1E8AAFEA}"/>
            </a:ext>
          </a:extLst>
        </cdr:cNvPr>
        <cdr:cNvSpPr/>
      </cdr:nvSpPr>
      <cdr:spPr>
        <a:xfrm xmlns:a="http://schemas.openxmlformats.org/drawingml/2006/main">
          <a:off x="80151" y="-3656402"/>
          <a:ext cx="503421" cy="325746"/>
        </a:xfrm>
        <a:prstGeom xmlns:a="http://schemas.openxmlformats.org/drawingml/2006/main" prst="roundRect">
          <a:avLst/>
        </a:prstGeom>
      </cdr:spPr>
      <cdr:style>
        <a:lnRef xmlns:a="http://schemas.openxmlformats.org/drawingml/2006/main" idx="1">
          <a:schemeClr val="accent2"/>
        </a:lnRef>
        <a:fillRef xmlns:a="http://schemas.openxmlformats.org/drawingml/2006/main" idx="3">
          <a:schemeClr val="accent2"/>
        </a:fillRef>
        <a:effectRef xmlns:a="http://schemas.openxmlformats.org/drawingml/2006/main" idx="2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pt-PT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dirty="0"/>
            <a:t>2</a:t>
          </a:r>
          <a:endParaRPr lang="pt-AO" dirty="0"/>
        </a:p>
      </cdr:txBody>
    </cdr:sp>
  </cdr:relSizeAnchor>
  <cdr:relSizeAnchor xmlns:cdr="http://schemas.openxmlformats.org/drawingml/2006/chartDrawing">
    <cdr:from>
      <cdr:x>0.13483</cdr:x>
      <cdr:y>0.02336</cdr:y>
    </cdr:from>
    <cdr:to>
      <cdr:x>0.64343</cdr:x>
      <cdr:y>0.15008</cdr:y>
    </cdr:to>
    <cdr:sp macro="" textlink="">
      <cdr:nvSpPr>
        <cdr:cNvPr id="3" name="object 132">
          <a:extLst xmlns:a="http://schemas.openxmlformats.org/drawingml/2006/main">
            <a:ext uri="{FF2B5EF4-FFF2-40B4-BE49-F238E27FC236}">
              <a16:creationId xmlns:a16="http://schemas.microsoft.com/office/drawing/2014/main" id="{DEDFA320-FA03-3A5C-B179-F810383BE35A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709775" y="47760"/>
          <a:ext cx="2677362" cy="2590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12700" rIns="0" bIns="0" rtlCol="0">
          <a:spAutoFit/>
        </a:bodyPr>
        <a:lstStyle xmlns:a="http://schemas.openxmlformats.org/drawingml/2006/main">
          <a:defPPr>
            <a:defRPr lang="pt-P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j-lt"/>
              <a:ea typeface="+mj-ea"/>
              <a:cs typeface="+mj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2700" marR="0" lvl="0" indent="0" algn="l" defTabSz="914400" rtl="0" eaLnBrk="1" fontAlgn="auto" latinLnBrk="0" hangingPunct="1">
            <a:lnSpc>
              <a:spcPct val="100000"/>
            </a:lnSpc>
            <a:spcBef>
              <a:spcPts val="10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PT" sz="1600" b="1" kern="0" dirty="0">
              <a:solidFill>
                <a:srgbClr val="CC0000"/>
              </a:solidFill>
              <a:latin typeface="Arial Narrow" panose="020B0606020202030204" pitchFamily="34" charset="0"/>
              <a:cs typeface="DIN2014-DemiBold"/>
            </a:rPr>
            <a:t>Estabilidade Macroeconómica</a:t>
          </a:r>
          <a:r>
            <a:rPr lang="pt-PT" sz="1600" i="1" kern="0" dirty="0">
              <a:solidFill>
                <a:srgbClr val="CC0000"/>
              </a:solidFill>
              <a:latin typeface="Arial Narrow" panose="020B0606020202030204" pitchFamily="34" charset="0"/>
              <a:cs typeface="DIN2014-DemiBold"/>
            </a:rPr>
            <a:t> </a:t>
          </a:r>
          <a:endParaRPr kumimoji="0" lang="pt-PT" sz="1600" i="1" strike="noStrike" kern="0" cap="none" spc="0" normalizeH="0" baseline="0" noProof="0" dirty="0">
            <a:ln>
              <a:noFill/>
            </a:ln>
            <a:solidFill>
              <a:srgbClr val="CC0000"/>
            </a:solidFill>
            <a:effectLst/>
            <a:uLnTx/>
            <a:uFillTx/>
            <a:latin typeface="Arial Narrow" panose="020B0606020202030204" pitchFamily="34" charset="0"/>
            <a:cs typeface="DIN2014-DemiBold"/>
          </a:endParaRP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5622510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71B60-BFDB-4B98-9CEA-29CAD5F76F02}" type="datetimeFigureOut">
              <a:rPr lang="pt-PT" smtClean="0"/>
              <a:t>17/08/2026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992664" y="3271382"/>
            <a:ext cx="794131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456218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5622510" y="6456218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EF873-AD26-47B1-B96C-C097D8F992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453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A433-2F51-E90B-720C-B9F94BB6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13ED1-F1BC-6A47-64DE-FEF6828C8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EE99E-9EAB-91F0-9700-72536379B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55F75-309E-42B3-3F4B-25DEB389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5395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7F9E-9CFB-7905-9A8B-90DB965D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E5ADD-8531-3EAE-3507-B64CD4D80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B03A2-8AD7-AFFE-8C74-2D589FFEA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FBA4-0C04-D8F9-8560-981C46A8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8476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C599-F6BA-C08D-8994-551488F7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F79F-03B4-9F04-46DD-6DF9A022A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D8949-3310-BECA-1AF0-FDF77263D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23FA-4CD8-60EF-9FEB-E01723EC7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3017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8DE6-027D-85D3-C18B-7821659D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03D4E-A6B0-6DF8-E502-CA509949E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2445B-A799-ED5D-F47F-B82E99F5C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09E06-4AC5-1025-F81F-D8EAC5022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369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695C-C413-ECC3-F298-0AFA17CC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067A9-A5BF-D969-35CB-236B18DF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FF9A0-AEAE-9F04-6F0D-63A9CE3AF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5D68-4A03-87A0-1AE3-31F58596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723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9B36-0A32-1A9F-00BB-86609FC8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4BC21-E2A3-56E1-1F52-7F12EF7A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C5B68-FC8C-B526-F30E-A35629996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F826-5C1B-788C-EB66-E7D107D43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3076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9C17F-8A38-B477-D741-2EFECCB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5F163-B1AD-D504-37D5-A90F02603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17521-D98D-34C6-E275-3A50D3064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7B58-AC0C-D3D1-34D7-2610CF0C0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4376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0174-30A0-BD09-45CC-20974BDD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18A5F-BBC8-43FF-E8AC-8DAF85F22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FF1F9-61BA-0D9A-FFD8-284CE281D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024A0-2D85-7ACC-68A0-8D661727F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1234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BCBB-A04F-68B2-AFDB-6D78D35D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518A0-AA3D-3345-30DB-95A448EDE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7D21C-4C29-0F9B-45DA-F336679AC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3550-5650-FD24-71AE-7B9C8DF50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EF873-AD26-47B1-B96C-C097D8F99265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61075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543" y="783195"/>
            <a:ext cx="1124891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015264"/>
            <a:ext cx="12192000" cy="4842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3466465"/>
          </a:xfrm>
          <a:custGeom>
            <a:avLst/>
            <a:gdLst/>
            <a:ahLst/>
            <a:cxnLst/>
            <a:rect l="l" t="t" r="r" b="b"/>
            <a:pathLst>
              <a:path w="12192000" h="3466465">
                <a:moveTo>
                  <a:pt x="12192000" y="0"/>
                </a:moveTo>
                <a:lnTo>
                  <a:pt x="0" y="0"/>
                </a:lnTo>
                <a:lnTo>
                  <a:pt x="0" y="3466211"/>
                </a:lnTo>
                <a:lnTo>
                  <a:pt x="12192000" y="346621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543" y="783195"/>
            <a:ext cx="1124891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19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32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17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015264"/>
            <a:ext cx="12192000" cy="4842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3466465"/>
          </a:xfrm>
          <a:custGeom>
            <a:avLst/>
            <a:gdLst/>
            <a:ahLst/>
            <a:cxnLst/>
            <a:rect l="l" t="t" r="r" b="b"/>
            <a:pathLst>
              <a:path w="12192000" h="3466465">
                <a:moveTo>
                  <a:pt x="12192000" y="0"/>
                </a:moveTo>
                <a:lnTo>
                  <a:pt x="0" y="0"/>
                </a:lnTo>
                <a:lnTo>
                  <a:pt x="0" y="3466211"/>
                </a:lnTo>
                <a:lnTo>
                  <a:pt x="12192000" y="346621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9325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86892" y="6170362"/>
            <a:ext cx="507856" cy="456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74354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18" y="0"/>
                </a:moveTo>
                <a:lnTo>
                  <a:pt x="0" y="0"/>
                </a:lnTo>
                <a:lnTo>
                  <a:pt x="0" y="3403"/>
                </a:lnTo>
                <a:lnTo>
                  <a:pt x="4737" y="3416"/>
                </a:lnTo>
                <a:lnTo>
                  <a:pt x="5918" y="0"/>
                </a:lnTo>
                <a:close/>
              </a:path>
            </a:pathLst>
          </a:custGeom>
          <a:solidFill>
            <a:srgbClr val="FAA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97906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12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AA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9909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AA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00284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9A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0087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F9A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01473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026623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0385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44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0504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5634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F69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06824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699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0741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498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0860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39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0979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1039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098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1158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2174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09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12767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F9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1395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F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14552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E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15741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E8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1633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D8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16930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D8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181194" y="6626656"/>
            <a:ext cx="19050" cy="3810"/>
          </a:xfrm>
          <a:custGeom>
            <a:avLst/>
            <a:gdLst/>
            <a:ahLst/>
            <a:cxnLst/>
            <a:rect l="l" t="t" r="r" b="b"/>
            <a:pathLst>
              <a:path w="19050" h="3809">
                <a:moveTo>
                  <a:pt x="19050" y="0"/>
                </a:moveTo>
                <a:lnTo>
                  <a:pt x="19050" y="0"/>
                </a:lnTo>
                <a:lnTo>
                  <a:pt x="1181" y="0"/>
                </a:lnTo>
                <a:lnTo>
                  <a:pt x="0" y="3416"/>
                </a:lnTo>
                <a:lnTo>
                  <a:pt x="17868" y="3416"/>
                </a:lnTo>
                <a:lnTo>
                  <a:pt x="19050" y="0"/>
                </a:lnTo>
                <a:close/>
              </a:path>
            </a:pathLst>
          </a:custGeom>
          <a:solidFill>
            <a:srgbClr val="EC8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1990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49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B8A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21092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2168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2228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22875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23469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986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4659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985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25253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5849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2644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2703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27631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7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28821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2941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68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30604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67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119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77E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31793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238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57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3357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34171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47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35360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47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35954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50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37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3714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27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7739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17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38332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176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9521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075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4071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0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4130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41900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42494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4308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E7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4427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D7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44872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7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45467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4606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4665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4725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147845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14843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149033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150223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15081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151412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152006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153196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15379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96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54385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5497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5557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8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5616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5676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573574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86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5854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8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5914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5973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E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6033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60924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65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6151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6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16211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5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16270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55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163896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45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165087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45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16568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16627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35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166869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45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167464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4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168058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25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16865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169248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169842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170438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25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17103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4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17162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17222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14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17281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17340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1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17459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14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175193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75787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04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76382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176977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CF4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178166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F4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17876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4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79355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4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7994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E3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8054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3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81138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D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81732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8232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8292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8351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3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8411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8470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D3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85299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85895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C3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8648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C3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87083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C3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87677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B2F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882721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68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6007" y="12"/>
                </a:lnTo>
                <a:close/>
              </a:path>
            </a:pathLst>
          </a:custGeom>
          <a:solidFill>
            <a:srgbClr val="CA2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19112" y="2194473"/>
            <a:ext cx="12430224" cy="149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80632"/>
            <a:ext cx="10791964" cy="677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86892" y="6170362"/>
            <a:ext cx="507856" cy="456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74354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18" y="0"/>
                </a:moveTo>
                <a:lnTo>
                  <a:pt x="0" y="0"/>
                </a:lnTo>
                <a:lnTo>
                  <a:pt x="0" y="3403"/>
                </a:lnTo>
                <a:lnTo>
                  <a:pt x="4737" y="3416"/>
                </a:lnTo>
                <a:lnTo>
                  <a:pt x="5918" y="0"/>
                </a:lnTo>
                <a:close/>
              </a:path>
            </a:pathLst>
          </a:custGeom>
          <a:solidFill>
            <a:srgbClr val="FAA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97906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12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AA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9909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AA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00284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9A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0087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F9A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01473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026623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99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0385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44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0504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89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5634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F69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06824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699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0741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F498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086071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F39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0979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1039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1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098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1158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F9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2174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F092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12767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38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F91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1395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F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14552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E9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15741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E8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16336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D8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16930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D8D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181194" y="6626656"/>
            <a:ext cx="19050" cy="3810"/>
          </a:xfrm>
          <a:custGeom>
            <a:avLst/>
            <a:gdLst/>
            <a:ahLst/>
            <a:cxnLst/>
            <a:rect l="l" t="t" r="r" b="b"/>
            <a:pathLst>
              <a:path w="19050" h="3809">
                <a:moveTo>
                  <a:pt x="19050" y="0"/>
                </a:moveTo>
                <a:lnTo>
                  <a:pt x="19050" y="0"/>
                </a:lnTo>
                <a:lnTo>
                  <a:pt x="1181" y="0"/>
                </a:lnTo>
                <a:lnTo>
                  <a:pt x="0" y="3416"/>
                </a:lnTo>
                <a:lnTo>
                  <a:pt x="17868" y="3416"/>
                </a:lnTo>
                <a:lnTo>
                  <a:pt x="19050" y="0"/>
                </a:lnTo>
                <a:close/>
              </a:path>
            </a:pathLst>
          </a:custGeom>
          <a:solidFill>
            <a:srgbClr val="EC8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1990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49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B8A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21092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B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2168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2228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22875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23469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986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4659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985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25253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A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5849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2644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2703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276317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78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28821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88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29414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68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30604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67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119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77E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31793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238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57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33576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57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34171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47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35360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47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359540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19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56" y="3416"/>
                </a:lnTo>
                <a:lnTo>
                  <a:pt x="11950" y="3416"/>
                </a:lnTo>
                <a:lnTo>
                  <a:pt x="13119" y="0"/>
                </a:lnTo>
                <a:close/>
              </a:path>
            </a:pathLst>
          </a:custGeom>
          <a:solidFill>
            <a:srgbClr val="E37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3714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27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7739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E177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38332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176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95215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38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E075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4071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E0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41305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4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41900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42494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F7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4308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E7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4427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D70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44872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7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45467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4606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C6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46656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4725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D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147845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14843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149033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150223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B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15081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151412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1520068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A6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153196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A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15379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96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54385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54979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A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55574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86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56169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5676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96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573574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86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58547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8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59141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5973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E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60330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75D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60924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65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6151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6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16211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55B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162707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55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163896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62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45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165087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45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16568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16627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35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166869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45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167464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454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168058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25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168653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169248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3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169842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5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170438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25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1710314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24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171627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172220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14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172816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D14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1734089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106" y="0"/>
                </a:moveTo>
                <a:lnTo>
                  <a:pt x="7175" y="0"/>
                </a:lnTo>
                <a:lnTo>
                  <a:pt x="1181" y="0"/>
                </a:lnTo>
                <a:lnTo>
                  <a:pt x="0" y="3416"/>
                </a:lnTo>
                <a:lnTo>
                  <a:pt x="5943" y="3416"/>
                </a:lnTo>
                <a:lnTo>
                  <a:pt x="11925" y="3416"/>
                </a:lnTo>
                <a:lnTo>
                  <a:pt x="13106" y="0"/>
                </a:lnTo>
                <a:close/>
              </a:path>
            </a:pathLst>
          </a:custGeom>
          <a:solidFill>
            <a:srgbClr val="D1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174598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14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1751931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75787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D04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763820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D04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1769776" y="6626656"/>
            <a:ext cx="13335" cy="3810"/>
          </a:xfrm>
          <a:custGeom>
            <a:avLst/>
            <a:gdLst/>
            <a:ahLst/>
            <a:cxnLst/>
            <a:rect l="l" t="t" r="r" b="b"/>
            <a:pathLst>
              <a:path w="13334" h="3809">
                <a:moveTo>
                  <a:pt x="13093" y="0"/>
                </a:moveTo>
                <a:lnTo>
                  <a:pt x="7150" y="0"/>
                </a:lnTo>
                <a:lnTo>
                  <a:pt x="1181" y="0"/>
                </a:lnTo>
                <a:lnTo>
                  <a:pt x="0" y="3416"/>
                </a:lnTo>
                <a:lnTo>
                  <a:pt x="5930" y="3416"/>
                </a:lnTo>
                <a:lnTo>
                  <a:pt x="11925" y="3416"/>
                </a:lnTo>
                <a:lnTo>
                  <a:pt x="13093" y="0"/>
                </a:lnTo>
                <a:close/>
              </a:path>
            </a:pathLst>
          </a:custGeom>
          <a:solidFill>
            <a:srgbClr val="CF4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1781666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F4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178760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4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79355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4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79949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E3F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80543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E3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81138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D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81732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823272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D3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82921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83517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E3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841109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84706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D3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85299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D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858955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50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50" y="0"/>
                </a:lnTo>
                <a:close/>
              </a:path>
            </a:pathLst>
          </a:custGeom>
          <a:solidFill>
            <a:srgbClr val="CC3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864888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5994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C3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870833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62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7162" y="0"/>
                </a:lnTo>
                <a:close/>
              </a:path>
            </a:pathLst>
          </a:custGeom>
          <a:solidFill>
            <a:srgbClr val="CC30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876777" y="6626656"/>
            <a:ext cx="7620" cy="3810"/>
          </a:xfrm>
          <a:custGeom>
            <a:avLst/>
            <a:gdLst/>
            <a:ahLst/>
            <a:cxnLst/>
            <a:rect l="l" t="t" r="r" b="b"/>
            <a:pathLst>
              <a:path w="7620" h="3809">
                <a:moveTo>
                  <a:pt x="7175" y="0"/>
                </a:moveTo>
                <a:lnTo>
                  <a:pt x="1181" y="0"/>
                </a:lnTo>
                <a:lnTo>
                  <a:pt x="0" y="3416"/>
                </a:lnTo>
                <a:lnTo>
                  <a:pt x="6007" y="3416"/>
                </a:lnTo>
                <a:lnTo>
                  <a:pt x="7175" y="0"/>
                </a:lnTo>
                <a:close/>
              </a:path>
            </a:pathLst>
          </a:custGeom>
          <a:solidFill>
            <a:srgbClr val="CB2F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882721" y="6626656"/>
            <a:ext cx="6350" cy="3810"/>
          </a:xfrm>
          <a:custGeom>
            <a:avLst/>
            <a:gdLst/>
            <a:ahLst/>
            <a:cxnLst/>
            <a:rect l="l" t="t" r="r" b="b"/>
            <a:pathLst>
              <a:path w="6350" h="3809">
                <a:moveTo>
                  <a:pt x="5968" y="0"/>
                </a:moveTo>
                <a:lnTo>
                  <a:pt x="1181" y="0"/>
                </a:lnTo>
                <a:lnTo>
                  <a:pt x="0" y="3416"/>
                </a:lnTo>
                <a:lnTo>
                  <a:pt x="5981" y="3416"/>
                </a:lnTo>
                <a:lnTo>
                  <a:pt x="6007" y="12"/>
                </a:lnTo>
                <a:close/>
              </a:path>
            </a:pathLst>
          </a:custGeom>
          <a:solidFill>
            <a:srgbClr val="CA2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19112" y="2194473"/>
            <a:ext cx="12430224" cy="149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DIN 2014"/>
                <a:cs typeface="DIN 201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468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8.svg"/><Relationship Id="rId6" Type="http://schemas.openxmlformats.org/officeDocument/2006/relationships/image" Target="../media/image19.emf"/><Relationship Id="rId7" Type="http://schemas.openxmlformats.org/officeDocument/2006/relationships/image" Target="../media/image20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chart" Target="../charts/chart1.xml"/><Relationship Id="rId6" Type="http://schemas.openxmlformats.org/officeDocument/2006/relationships/image" Target="../media/image21.svg"/><Relationship Id="rId7" Type="http://schemas.openxmlformats.org/officeDocument/2006/relationships/image" Target="../media/image22.svg"/><Relationship Id="rId8" Type="http://schemas.openxmlformats.org/officeDocument/2006/relationships/image" Target="../media/image2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chart" Target="../charts/chart2.xml"/><Relationship Id="rId6" Type="http://schemas.openxmlformats.org/officeDocument/2006/relationships/image" Target="../media/image24.svg"/><Relationship Id="rId7" Type="http://schemas.openxmlformats.org/officeDocument/2006/relationships/image" Target="../media/image25.svg"/><Relationship Id="rId8" Type="http://schemas.openxmlformats.org/officeDocument/2006/relationships/chart" Target="../charts/chart3.xml"/><Relationship Id="rId9" Type="http://schemas.openxmlformats.org/officeDocument/2006/relationships/image" Target="../media/image2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svg"/><Relationship Id="rId6" Type="http://schemas.openxmlformats.org/officeDocument/2006/relationships/image" Target="../media/image25.svg"/><Relationship Id="rId7" Type="http://schemas.openxmlformats.org/officeDocument/2006/relationships/chart" Target="../charts/chart4.xml"/><Relationship Id="rId8" Type="http://schemas.openxmlformats.org/officeDocument/2006/relationships/chart" Target="../charts/chart5.xml"/><Relationship Id="rId9" Type="http://schemas.openxmlformats.org/officeDocument/2006/relationships/image" Target="../media/image2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svg"/><Relationship Id="rId6" Type="http://schemas.openxmlformats.org/officeDocument/2006/relationships/image" Target="../media/image25.svg"/><Relationship Id="rId7" Type="http://schemas.openxmlformats.org/officeDocument/2006/relationships/chart" Target="../charts/chart6.xml"/><Relationship Id="rId8" Type="http://schemas.openxmlformats.org/officeDocument/2006/relationships/chart" Target="../charts/chart7.xml"/><Relationship Id="rId9" Type="http://schemas.openxmlformats.org/officeDocument/2006/relationships/image" Target="../media/image2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svg"/><Relationship Id="rId6" Type="http://schemas.openxmlformats.org/officeDocument/2006/relationships/image" Target="../media/image25.svg"/><Relationship Id="rId7" Type="http://schemas.openxmlformats.org/officeDocument/2006/relationships/image" Target="../media/image29.svg"/><Relationship Id="rId8" Type="http://schemas.openxmlformats.org/officeDocument/2006/relationships/chart" Target="../charts/chart8.xml"/><Relationship Id="rId9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0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bject 258"/>
          <p:cNvSpPr/>
          <p:nvPr/>
        </p:nvSpPr>
        <p:spPr>
          <a:xfrm>
            <a:off x="332014" y="5695545"/>
            <a:ext cx="762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1" name="Retângulo 260">
            <a:extLst>
              <a:ext uri="{FF2B5EF4-FFF2-40B4-BE49-F238E27FC236}">
                <a16:creationId xmlns:a16="http://schemas.microsoft.com/office/drawing/2014/main" id="{A24FC1FB-1CD5-E941-8EC5-8F688E3CB4A6}"/>
              </a:ext>
            </a:extLst>
          </p:cNvPr>
          <p:cNvSpPr/>
          <p:nvPr/>
        </p:nvSpPr>
        <p:spPr>
          <a:xfrm>
            <a:off x="533400" y="4038600"/>
            <a:ext cx="11277600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402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3600" b="1" spc="-30" dirty="0">
                <a:solidFill>
                  <a:srgbClr val="D44B36"/>
                </a:solidFill>
                <a:latin typeface="Arial Narrow" panose="020B0606020202030204" pitchFamily="34" charset="0"/>
                <a:cs typeface="DIN 2014"/>
              </a:rPr>
              <a:t>Apresentação do Índice Global de Desenvolvimento de Angola </a:t>
            </a:r>
            <a:r>
              <a:rPr kumimoji="0" lang="pt-PT" sz="3600" b="1" i="0" u="none" strike="noStrike" kern="1200" cap="none" spc="-3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 </a:t>
            </a:r>
            <a:endParaRPr kumimoji="0" lang="pt-PT" sz="3600" b="1" i="0" u="none" strike="noStrike" kern="1200" cap="none" spc="-10" normalizeH="0" baseline="0" noProof="0" dirty="0">
              <a:ln>
                <a:noFill/>
              </a:ln>
              <a:solidFill>
                <a:srgbClr val="D44B36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263" name="object 3">
            <a:extLst>
              <a:ext uri="{FF2B5EF4-FFF2-40B4-BE49-F238E27FC236}">
                <a16:creationId xmlns:a16="http://schemas.microsoft.com/office/drawing/2014/main" id="{FE5E0A01-0BD0-294B-8A14-E1018F45A3E4}"/>
              </a:ext>
            </a:extLst>
          </p:cNvPr>
          <p:cNvSpPr txBox="1"/>
          <p:nvPr/>
        </p:nvSpPr>
        <p:spPr>
          <a:xfrm>
            <a:off x="429985" y="5619345"/>
            <a:ext cx="6036945" cy="74828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000" b="1" dirty="0">
                <a:solidFill>
                  <a:prstClr val="black"/>
                </a:solidFill>
                <a:latin typeface="Arial Narrow" panose="020B0606020202030204" pitchFamily="34" charset="0"/>
                <a:cs typeface="DIN 2014"/>
              </a:rPr>
              <a:t>Proposta actualizada (v8)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000" b="1" spc="25" dirty="0">
                <a:solidFill>
                  <a:srgbClr val="D44B36"/>
                </a:solidFill>
                <a:latin typeface="Arial Narrow" panose="020B0606020202030204" pitchFamily="34" charset="0"/>
                <a:cs typeface="DIN 2014"/>
              </a:rPr>
              <a:t>Setembro - 2026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FA9394-2B18-F2B9-2E2E-65BD319AF6DA}"/>
              </a:ext>
            </a:extLst>
          </p:cNvPr>
          <p:cNvSpPr/>
          <p:nvPr/>
        </p:nvSpPr>
        <p:spPr>
          <a:xfrm>
            <a:off x="8229600" y="152400"/>
            <a:ext cx="3886200" cy="107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ts val="4020"/>
              </a:lnSpc>
              <a:spcBef>
                <a:spcPts val="775"/>
              </a:spcBef>
            </a:pPr>
            <a:r>
              <a:rPr lang="pt-PT" sz="3000" b="1" spc="20" dirty="0">
                <a:solidFill>
                  <a:schemeClr val="bg1"/>
                </a:solidFill>
                <a:latin typeface="Arial Narrow" panose="020B0606020202030204" pitchFamily="34" charset="0"/>
                <a:cs typeface="DIN 2014"/>
              </a:rPr>
              <a:t>Gabinete de Estratégia e Planeamento (GEP)</a:t>
            </a:r>
            <a:endParaRPr lang="pt-PT" sz="3000" dirty="0">
              <a:solidFill>
                <a:schemeClr val="bg1"/>
              </a:solidFill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9275CB-9CE2-6DED-7221-5EBDF39E47A5}"/>
              </a:ext>
            </a:extLst>
          </p:cNvPr>
          <p:cNvSpPr/>
          <p:nvPr/>
        </p:nvSpPr>
        <p:spPr>
          <a:xfrm>
            <a:off x="533400" y="4629150"/>
            <a:ext cx="11277600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402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800" b="1" spc="-30" dirty="0">
                <a:latin typeface="Arial Narrow" panose="020B0606020202030204" pitchFamily="34" charset="0"/>
                <a:cs typeface="DIN 2014"/>
              </a:rPr>
              <a:t>IGDA-BDA  ·  2015–2025  ·  8 dimensões  ·  41 indicadores  ·  metas alinhadas com o PDN 2023-2027</a:t>
            </a:r>
            <a:endParaRPr kumimoji="0" lang="pt-PT" sz="2800" b="1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99" y="38100"/>
            <a:ext cx="12268200" cy="6858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800" y="1447800"/>
            <a:ext cx="2438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PT" sz="2800" b="1" spc="-10" dirty="0">
                <a:solidFill>
                  <a:srgbClr val="D34A36"/>
                </a:solidFill>
                <a:latin typeface="Arial "/>
                <a:cs typeface="Calibri"/>
              </a:rPr>
              <a:t>AGENDA</a:t>
            </a:r>
            <a:endParaRPr sz="2800" b="1" dirty="0">
              <a:latin typeface="Arial "/>
              <a:cs typeface="Calibri"/>
            </a:endParaRPr>
          </a:p>
        </p:txBody>
      </p:sp>
      <p:sp>
        <p:nvSpPr>
          <p:cNvPr id="5" name="object 258">
            <a:extLst>
              <a:ext uri="{FF2B5EF4-FFF2-40B4-BE49-F238E27FC236}">
                <a16:creationId xmlns:a16="http://schemas.microsoft.com/office/drawing/2014/main" id="{4991136F-5D8E-43BA-5EAE-CE3AAF201501}"/>
              </a:ext>
            </a:extLst>
          </p:cNvPr>
          <p:cNvSpPr/>
          <p:nvPr/>
        </p:nvSpPr>
        <p:spPr>
          <a:xfrm rot="5400000">
            <a:off x="780175" y="1630812"/>
            <a:ext cx="762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4" name="Conexão reta 33">
            <a:extLst>
              <a:ext uri="{FF2B5EF4-FFF2-40B4-BE49-F238E27FC236}">
                <a16:creationId xmlns:a16="http://schemas.microsoft.com/office/drawing/2014/main" id="{A8ED27E8-7B76-A32A-E818-3D8538A955D8}"/>
              </a:ext>
            </a:extLst>
          </p:cNvPr>
          <p:cNvCxnSpPr>
            <a:cxnSpLocks/>
          </p:cNvCxnSpPr>
          <p:nvPr/>
        </p:nvCxnSpPr>
        <p:spPr>
          <a:xfrm>
            <a:off x="4191000" y="3467100"/>
            <a:ext cx="0" cy="1676400"/>
          </a:xfrm>
          <a:prstGeom prst="line">
            <a:avLst/>
          </a:prstGeom>
          <a:ln w="34925">
            <a:solidFill>
              <a:schemeClr val="bg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34">
            <a:extLst>
              <a:ext uri="{FF2B5EF4-FFF2-40B4-BE49-F238E27FC236}">
                <a16:creationId xmlns:a16="http://schemas.microsoft.com/office/drawing/2014/main" id="{89CED879-EC41-F9BE-CD28-A8614E21AD8D}"/>
              </a:ext>
            </a:extLst>
          </p:cNvPr>
          <p:cNvCxnSpPr>
            <a:cxnSpLocks/>
          </p:cNvCxnSpPr>
          <p:nvPr/>
        </p:nvCxnSpPr>
        <p:spPr>
          <a:xfrm>
            <a:off x="7696200" y="3494314"/>
            <a:ext cx="0" cy="1676400"/>
          </a:xfrm>
          <a:prstGeom prst="line">
            <a:avLst/>
          </a:prstGeom>
          <a:ln w="34925">
            <a:solidFill>
              <a:schemeClr val="bg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132">
            <a:extLst>
              <a:ext uri="{FF2B5EF4-FFF2-40B4-BE49-F238E27FC236}">
                <a16:creationId xmlns:a16="http://schemas.microsoft.com/office/drawing/2014/main" id="{488A8F1C-9361-39D0-C748-559551D4941A}"/>
              </a:ext>
            </a:extLst>
          </p:cNvPr>
          <p:cNvSpPr txBox="1">
            <a:spLocks/>
          </p:cNvSpPr>
          <p:nvPr/>
        </p:nvSpPr>
        <p:spPr>
          <a:xfrm>
            <a:off x="2076655" y="4730411"/>
            <a:ext cx="194017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Enquadramento: porque precisamos do IGDA</a:t>
            </a:r>
            <a:r>
              <a:rPr lang="pt-PT" sz="1200" b="1" i="1" kern="0" dirty="0">
                <a:latin typeface="Arial Narrow" panose="020B0606020202030204" pitchFamily="34" charset="0"/>
                <a:cs typeface="DIN2014-DemiBold"/>
              </a:rPr>
              <a:t>?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1" name="object 132">
            <a:extLst>
              <a:ext uri="{FF2B5EF4-FFF2-40B4-BE49-F238E27FC236}">
                <a16:creationId xmlns:a16="http://schemas.microsoft.com/office/drawing/2014/main" id="{F59C737B-C3EB-1B52-1F73-34197884C5E4}"/>
              </a:ext>
            </a:extLst>
          </p:cNvPr>
          <p:cNvSpPr txBox="1">
            <a:spLocks/>
          </p:cNvSpPr>
          <p:nvPr/>
        </p:nvSpPr>
        <p:spPr>
          <a:xfrm>
            <a:off x="5189970" y="4730411"/>
            <a:ext cx="133308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Metodologia: como o IGDA foi construído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2" name="object 132">
            <a:extLst>
              <a:ext uri="{FF2B5EF4-FFF2-40B4-BE49-F238E27FC236}">
                <a16:creationId xmlns:a16="http://schemas.microsoft.com/office/drawing/2014/main" id="{DF084769-CDC1-9E83-A9FD-2A518C743022}"/>
              </a:ext>
            </a:extLst>
          </p:cNvPr>
          <p:cNvSpPr txBox="1">
            <a:spLocks/>
          </p:cNvSpPr>
          <p:nvPr/>
        </p:nvSpPr>
        <p:spPr>
          <a:xfrm>
            <a:off x="8808064" y="4678908"/>
            <a:ext cx="196727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b="1" kern="0" dirty="0">
                <a:latin typeface="Arial Narrow" panose="020B0606020202030204" pitchFamily="34" charset="0"/>
                <a:cs typeface="DIN2014-DemiBold"/>
              </a:rPr>
              <a:t>Resultados preliminares e interpretação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6" name="object 258">
            <a:extLst>
              <a:ext uri="{FF2B5EF4-FFF2-40B4-BE49-F238E27FC236}">
                <a16:creationId xmlns:a16="http://schemas.microsoft.com/office/drawing/2014/main" id="{7A249C31-487C-A721-51FA-09C4C23434C4}"/>
              </a:ext>
            </a:extLst>
          </p:cNvPr>
          <p:cNvSpPr/>
          <p:nvPr/>
        </p:nvSpPr>
        <p:spPr>
          <a:xfrm rot="5400000">
            <a:off x="2643988" y="4298236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bject 258">
            <a:extLst>
              <a:ext uri="{FF2B5EF4-FFF2-40B4-BE49-F238E27FC236}">
                <a16:creationId xmlns:a16="http://schemas.microsoft.com/office/drawing/2014/main" id="{B34DE004-5240-6FBD-B434-2AFDCDE80845}"/>
              </a:ext>
            </a:extLst>
          </p:cNvPr>
          <p:cNvSpPr/>
          <p:nvPr/>
        </p:nvSpPr>
        <p:spPr>
          <a:xfrm rot="5400000">
            <a:off x="9764221" y="4256793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bject 258">
            <a:extLst>
              <a:ext uri="{FF2B5EF4-FFF2-40B4-BE49-F238E27FC236}">
                <a16:creationId xmlns:a16="http://schemas.microsoft.com/office/drawing/2014/main" id="{9C33FE03-DEA7-7286-4F17-31D5D43137D0}"/>
              </a:ext>
            </a:extLst>
          </p:cNvPr>
          <p:cNvSpPr/>
          <p:nvPr/>
        </p:nvSpPr>
        <p:spPr>
          <a:xfrm rot="5400000">
            <a:off x="5703859" y="4292793"/>
            <a:ext cx="360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9996F-31F2-1B8E-0FF4-694CAB39E24C}"/>
              </a:ext>
            </a:extLst>
          </p:cNvPr>
          <p:cNvSpPr/>
          <p:nvPr/>
        </p:nvSpPr>
        <p:spPr>
          <a:xfrm>
            <a:off x="2391508" y="3318961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  <a:endParaRPr lang="pt-AO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C7E8CDE-F851-4D5A-F82B-5217EFB70B37}"/>
              </a:ext>
            </a:extLst>
          </p:cNvPr>
          <p:cNvSpPr/>
          <p:nvPr/>
        </p:nvSpPr>
        <p:spPr>
          <a:xfrm>
            <a:off x="5545810" y="3386791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  <a:endParaRPr lang="pt-AO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B7F5A7E-5B0D-832A-6CEA-F8910527C3CE}"/>
              </a:ext>
            </a:extLst>
          </p:cNvPr>
          <p:cNvSpPr/>
          <p:nvPr/>
        </p:nvSpPr>
        <p:spPr>
          <a:xfrm>
            <a:off x="9557443" y="3389496"/>
            <a:ext cx="468516" cy="533400"/>
          </a:xfrm>
          <a:prstGeom prst="ellipse">
            <a:avLst/>
          </a:prstGeom>
          <a:solidFill>
            <a:srgbClr val="FEA80E"/>
          </a:solidFill>
          <a:ln>
            <a:solidFill>
              <a:srgbClr val="843F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pt-AO" dirty="0"/>
          </a:p>
        </p:txBody>
      </p:sp>
      <p:pic>
        <p:nvPicPr>
          <p:cNvPr id="61" name="Gráfico 60" descr="Gráfico de barras com tendência ascendente destaque">
            <a:extLst>
              <a:ext uri="{FF2B5EF4-FFF2-40B4-BE49-F238E27FC236}">
                <a16:creationId xmlns:a16="http://schemas.microsoft.com/office/drawing/2014/main" id="{520B6A96-DA87-7AFE-390C-3FF226EEC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4142" y="3922896"/>
            <a:ext cx="852144" cy="646149"/>
          </a:xfrm>
          <a:prstGeom prst="rect">
            <a:avLst/>
          </a:prstGeom>
        </p:spPr>
      </p:pic>
      <p:pic>
        <p:nvPicPr>
          <p:cNvPr id="63" name="Gráfico 62" descr="Lista de verificação destaque">
            <a:extLst>
              <a:ext uri="{FF2B5EF4-FFF2-40B4-BE49-F238E27FC236}">
                <a16:creationId xmlns:a16="http://schemas.microsoft.com/office/drawing/2014/main" id="{9B3613CB-A356-023C-1E0B-947C8FE41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1" y="4029228"/>
            <a:ext cx="914400" cy="533400"/>
          </a:xfrm>
          <a:prstGeom prst="rect">
            <a:avLst/>
          </a:prstGeom>
        </p:spPr>
      </p:pic>
      <p:pic>
        <p:nvPicPr>
          <p:cNvPr id="69" name="Gráfico 68" descr="Sala de Aulas destaque">
            <a:extLst>
              <a:ext uri="{FF2B5EF4-FFF2-40B4-BE49-F238E27FC236}">
                <a16:creationId xmlns:a16="http://schemas.microsoft.com/office/drawing/2014/main" id="{B37731CD-3D4E-6307-0276-6BA3010E9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9033" y="3948495"/>
            <a:ext cx="685799" cy="589648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ADC345D-17F7-E489-5B64-EDD57223E9D5}"/>
              </a:ext>
            </a:extLst>
          </p:cNvPr>
          <p:cNvSpPr/>
          <p:nvPr/>
        </p:nvSpPr>
        <p:spPr>
          <a:xfrm>
            <a:off x="11372" y="7239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4" name="Gráfico 3" descr="Banco com preenchimento sólido">
            <a:extLst>
              <a:ext uri="{FF2B5EF4-FFF2-40B4-BE49-F238E27FC236}">
                <a16:creationId xmlns:a16="http://schemas.microsoft.com/office/drawing/2014/main" id="{8301AB85-E581-042E-A082-CC33C1501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145" y="266700"/>
            <a:ext cx="663055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86DCB4-D010-393B-D2D2-0F41DADE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FA1656C8-D496-4DF8-BBEA-966C1D9328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45B614CD-8759-8154-DFA4-8ED82F3222D0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FDD7EB8C-A7F2-285A-4E70-DDEAFFBBCF07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1 – ENQUADRAMENTO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62537AF8-DE74-2943-0D75-7262703F356B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CB48E-877B-0FCC-400A-AE23813B318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99B6084-DBEF-BAE9-3CDE-118146D44218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BCD7E4F3-1B8D-5E50-60E8-3DFE3F88B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72F8F33-3583-3D0D-EBC5-89FE7589200D}"/>
              </a:ext>
            </a:extLst>
          </p:cNvPr>
          <p:cNvSpPr/>
          <p:nvPr/>
        </p:nvSpPr>
        <p:spPr>
          <a:xfrm>
            <a:off x="4776" y="2960274"/>
            <a:ext cx="6015024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7075B172-6CBF-E279-7146-36B70A750AD8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553777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279B878-D00A-B4C4-7FAC-26A1328FC2BA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1400" b="1" dirty="0">
                <a:solidFill>
                  <a:schemeClr val="tx1"/>
                </a:solidFill>
              </a:rPr>
              <a:t>O </a:t>
            </a:r>
            <a:r>
              <a:rPr lang="pt-PT" sz="1400" b="1" dirty="0">
                <a:solidFill>
                  <a:schemeClr val="tx1"/>
                </a:solidFill>
              </a:rPr>
              <a:t> Índice Global de Desenvolvimento de Angola (</a:t>
            </a:r>
            <a:r>
              <a:rPr lang="pt-AO" sz="1400" b="1" dirty="0">
                <a:solidFill>
                  <a:schemeClr val="tx1"/>
                </a:solidFill>
              </a:rPr>
              <a:t>IGDA</a:t>
            </a:r>
            <a:r>
              <a:rPr lang="pt-PT" sz="1400" b="1" dirty="0">
                <a:solidFill>
                  <a:schemeClr val="tx1"/>
                </a:solidFill>
              </a:rPr>
              <a:t>)</a:t>
            </a:r>
            <a:r>
              <a:rPr lang="pt-AO" sz="1400" dirty="0">
                <a:solidFill>
                  <a:schemeClr val="tx1"/>
                </a:solidFill>
              </a:rPr>
              <a:t> é um índice </a:t>
            </a:r>
            <a:r>
              <a:rPr lang="pt-PT" sz="1400" dirty="0">
                <a:solidFill>
                  <a:schemeClr val="tx1"/>
                </a:solidFill>
              </a:rPr>
              <a:t>compósito, em desenvolvimento pelo </a:t>
            </a:r>
            <a:r>
              <a:rPr lang="pt-PT" sz="1400" dirty="0" err="1">
                <a:solidFill>
                  <a:schemeClr val="tx1"/>
                </a:solidFill>
              </a:rPr>
              <a:t>BDA</a:t>
            </a:r>
            <a:r>
              <a:rPr lang="pt-PT" sz="1400" dirty="0">
                <a:solidFill>
                  <a:schemeClr val="tx1"/>
                </a:solidFill>
              </a:rPr>
              <a:t>, que sintetiza num único valor anual (escala 0–100) o estado multidimensional do desenvolvimento do país — 8 dimensões e 41 indicadores, no período 2015–2025 —, </a:t>
            </a:r>
            <a:r>
              <a:rPr lang="pt-PT" sz="1400" dirty="0" err="1">
                <a:solidFill>
                  <a:schemeClr val="tx1"/>
                </a:solidFill>
              </a:rPr>
              <a:t>congregando</a:t>
            </a:r>
            <a:r>
              <a:rPr lang="pt-PT" sz="1400" dirty="0">
                <a:solidFill>
                  <a:schemeClr val="tx1"/>
                </a:solidFill>
              </a:rPr>
              <a:t> variáveis que reflectem, nomeadamente:</a:t>
            </a:r>
            <a:endParaRPr lang="pt-AO" sz="1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AO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Qualidade da governação e das instituições públicas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Níveis de transparência, integridade e </a:t>
            </a:r>
            <a:r>
              <a:rPr lang="pt-PT" sz="1400" dirty="0" err="1">
                <a:solidFill>
                  <a:schemeClr val="tx1"/>
                </a:solidFill>
              </a:rPr>
              <a:t>accountability</a:t>
            </a:r>
            <a:endParaRPr lang="pt-PT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Capacidade de execução de políticas públicas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Estabilidade institucional e previsibilidade do ambiente económico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Qualidade das infraestruturas e serviços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Capital humano, segurança alimentar e saúde</a:t>
            </a:r>
            <a:endParaRPr lang="pt-AO" sz="1400" dirty="0">
              <a:solidFill>
                <a:schemeClr val="tx1"/>
              </a:solidFill>
            </a:endParaRPr>
          </a:p>
        </p:txBody>
      </p:sp>
      <p:cxnSp>
        <p:nvCxnSpPr>
          <p:cNvPr id="34" name="Conexão reta 33">
            <a:extLst>
              <a:ext uri="{FF2B5EF4-FFF2-40B4-BE49-F238E27FC236}">
                <a16:creationId xmlns:a16="http://schemas.microsoft.com/office/drawing/2014/main" id="{26023D0A-2EBD-5AA5-D5E5-D5315A9A74F9}"/>
              </a:ext>
            </a:extLst>
          </p:cNvPr>
          <p:cNvCxnSpPr>
            <a:cxnSpLocks/>
          </p:cNvCxnSpPr>
          <p:nvPr/>
        </p:nvCxnSpPr>
        <p:spPr>
          <a:xfrm>
            <a:off x="828253" y="5638800"/>
            <a:ext cx="5082048" cy="0"/>
          </a:xfrm>
          <a:prstGeom prst="line">
            <a:avLst/>
          </a:prstGeom>
          <a:ln w="38100">
            <a:solidFill>
              <a:schemeClr val="bg2">
                <a:alpha val="82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object 132">
            <a:extLst>
              <a:ext uri="{FF2B5EF4-FFF2-40B4-BE49-F238E27FC236}">
                <a16:creationId xmlns:a16="http://schemas.microsoft.com/office/drawing/2014/main" id="{65DD29B2-DEB8-32A4-974A-0C0A2FFC7EC7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368109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Por que isto é crítico para o BDA? </a:t>
            </a:r>
            <a:r>
              <a:rPr lang="pt-PT" b="1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38" name="Gráfico 37" descr="Distintivo: ponto de interrogação destaque">
            <a:extLst>
              <a:ext uri="{FF2B5EF4-FFF2-40B4-BE49-F238E27FC236}">
                <a16:creationId xmlns:a16="http://schemas.microsoft.com/office/drawing/2014/main" id="{5F4F500B-606C-57F5-7BD2-DCE59C417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715" y="3070866"/>
            <a:ext cx="693347" cy="586019"/>
          </a:xfrm>
          <a:prstGeom prst="rect">
            <a:avLst/>
          </a:prstGeom>
        </p:spPr>
      </p:pic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10C4C90C-6930-E452-71B4-1149367381CE}"/>
              </a:ext>
            </a:extLst>
          </p:cNvPr>
          <p:cNvCxnSpPr>
            <a:cxnSpLocks/>
          </p:cNvCxnSpPr>
          <p:nvPr/>
        </p:nvCxnSpPr>
        <p:spPr>
          <a:xfrm>
            <a:off x="321394" y="3752346"/>
            <a:ext cx="0" cy="44110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object 132">
            <a:extLst>
              <a:ext uri="{FF2B5EF4-FFF2-40B4-BE49-F238E27FC236}">
                <a16:creationId xmlns:a16="http://schemas.microsoft.com/office/drawing/2014/main" id="{22B000C1-B1AE-4F80-9CFC-FC2330D2A252}"/>
              </a:ext>
            </a:extLst>
          </p:cNvPr>
          <p:cNvSpPr txBox="1">
            <a:spLocks/>
          </p:cNvSpPr>
          <p:nvPr/>
        </p:nvSpPr>
        <p:spPr>
          <a:xfrm>
            <a:off x="576364" y="3752346"/>
            <a:ext cx="52707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lvl="0">
              <a:spcBef>
                <a:spcPts val="100"/>
              </a:spcBef>
              <a:defRPr/>
            </a:pP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O IGDA sintetiza o comportamento conjunto dessas variáveis, permitindo: (i) 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avaliar o nível global do ambiente de desenvolvimento do país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sz="1200" b="1" i="1" kern="0" dirty="0">
                <a:latin typeface="Arial Narrow" panose="020B0606020202030204" pitchFamily="34" charset="0"/>
                <a:cs typeface="DIN2014-DemiBold"/>
              </a:rPr>
              <a:t>; 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(</a:t>
            </a:r>
            <a:r>
              <a:rPr lang="pt-PT" sz="1200" b="1" kern="0" dirty="0" err="1">
                <a:latin typeface="Arial Narrow" panose="020B0606020202030204" pitchFamily="34" charset="0"/>
                <a:cs typeface="DIN2014-DemiBold"/>
              </a:rPr>
              <a:t>ii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) 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identificar tendências de melhoria ou deterioração; 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(</a:t>
            </a:r>
            <a:r>
              <a:rPr lang="pt-PT" sz="1200" b="1" kern="0" dirty="0" err="1">
                <a:latin typeface="Arial Narrow" panose="020B0606020202030204" pitchFamily="34" charset="0"/>
                <a:cs typeface="DIN2014-DemiBold"/>
              </a:rPr>
              <a:t>iii</a:t>
            </a:r>
            <a:r>
              <a:rPr lang="pt-PT" sz="1200" b="1" kern="0" dirty="0">
                <a:latin typeface="Arial Narrow" panose="020B0606020202030204" pitchFamily="34" charset="0"/>
                <a:cs typeface="DIN2014-DemiBold"/>
              </a:rPr>
              <a:t>)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antecipar riscos institucionais e sistémicos relevantes para o Banco.</a:t>
            </a:r>
            <a:endParaRPr kumimoji="0" lang="pt-PT" sz="120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cxnSp>
        <p:nvCxnSpPr>
          <p:cNvPr id="43" name="Conexão reta 42">
            <a:extLst>
              <a:ext uri="{FF2B5EF4-FFF2-40B4-BE49-F238E27FC236}">
                <a16:creationId xmlns:a16="http://schemas.microsoft.com/office/drawing/2014/main" id="{76955026-67A0-EB6D-844F-8BE2EC4119EC}"/>
              </a:ext>
            </a:extLst>
          </p:cNvPr>
          <p:cNvCxnSpPr>
            <a:cxnSpLocks/>
          </p:cNvCxnSpPr>
          <p:nvPr/>
        </p:nvCxnSpPr>
        <p:spPr>
          <a:xfrm flipV="1">
            <a:off x="817102" y="5007351"/>
            <a:ext cx="5029988" cy="22240"/>
          </a:xfrm>
          <a:prstGeom prst="line">
            <a:avLst/>
          </a:prstGeom>
          <a:ln w="38100">
            <a:solidFill>
              <a:schemeClr val="bg2">
                <a:alpha val="82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4" name="object 132">
            <a:extLst>
              <a:ext uri="{FF2B5EF4-FFF2-40B4-BE49-F238E27FC236}">
                <a16:creationId xmlns:a16="http://schemas.microsoft.com/office/drawing/2014/main" id="{F78E90A7-0CC9-9454-FE9B-CA3E46DB171F}"/>
              </a:ext>
            </a:extLst>
          </p:cNvPr>
          <p:cNvSpPr txBox="1">
            <a:spLocks/>
          </p:cNvSpPr>
          <p:nvPr/>
        </p:nvSpPr>
        <p:spPr>
          <a:xfrm>
            <a:off x="321394" y="4357040"/>
            <a:ext cx="17360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u="sng" kern="0" dirty="0">
                <a:latin typeface="Arial Narrow" panose="020B0606020202030204" pitchFamily="34" charset="0"/>
                <a:cs typeface="DIN2014-DemiBold"/>
              </a:rPr>
              <a:t>Base de justificação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5" name="object 132">
            <a:extLst>
              <a:ext uri="{FF2B5EF4-FFF2-40B4-BE49-F238E27FC236}">
                <a16:creationId xmlns:a16="http://schemas.microsoft.com/office/drawing/2014/main" id="{1BBE1B1F-B134-5D42-F032-DA9A18A64A01}"/>
              </a:ext>
            </a:extLst>
          </p:cNvPr>
          <p:cNvSpPr txBox="1">
            <a:spLocks/>
          </p:cNvSpPr>
          <p:nvPr/>
        </p:nvSpPr>
        <p:spPr>
          <a:xfrm>
            <a:off x="857990" y="4760177"/>
            <a:ext cx="51618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Mau ambiente institucional – Maior risco nos financiamentos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6" name="object 132">
            <a:extLst>
              <a:ext uri="{FF2B5EF4-FFF2-40B4-BE49-F238E27FC236}">
                <a16:creationId xmlns:a16="http://schemas.microsoft.com/office/drawing/2014/main" id="{D86830D1-6402-95E5-1C88-68700EC680A0}"/>
              </a:ext>
            </a:extLst>
          </p:cNvPr>
          <p:cNvSpPr txBox="1">
            <a:spLocks/>
          </p:cNvSpPr>
          <p:nvPr/>
        </p:nvSpPr>
        <p:spPr>
          <a:xfrm>
            <a:off x="817102" y="5235069"/>
            <a:ext cx="474549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Fragilidades sectoriais – Menor taxa de sucesso nos </a:t>
            </a:r>
            <a:r>
              <a:rPr lang="pt-PT" sz="1200" kern="0" dirty="0" err="1">
                <a:latin typeface="Arial Narrow" panose="020B0606020202030204" pitchFamily="34" charset="0"/>
                <a:cs typeface="DIN2014-DemiBold"/>
              </a:rPr>
              <a:t>projectos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7" name="object 132">
            <a:extLst>
              <a:ext uri="{FF2B5EF4-FFF2-40B4-BE49-F238E27FC236}">
                <a16:creationId xmlns:a16="http://schemas.microsoft.com/office/drawing/2014/main" id="{91678948-3AF8-8E84-9E40-119E2376D73A}"/>
              </a:ext>
            </a:extLst>
          </p:cNvPr>
          <p:cNvSpPr txBox="1">
            <a:spLocks/>
          </p:cNvSpPr>
          <p:nvPr/>
        </p:nvSpPr>
        <p:spPr>
          <a:xfrm>
            <a:off x="857990" y="5700130"/>
            <a:ext cx="505231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Baixa governação – Redução do impacto do crédito ao desenvolvimento 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54" name="Gráfico 53" descr="Gráfico de tendência descendente destaque">
            <a:extLst>
              <a:ext uri="{FF2B5EF4-FFF2-40B4-BE49-F238E27FC236}">
                <a16:creationId xmlns:a16="http://schemas.microsoft.com/office/drawing/2014/main" id="{927B38D4-FC66-5FE7-7543-54198F849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744" y="5085258"/>
            <a:ext cx="393722" cy="472836"/>
          </a:xfrm>
          <a:prstGeom prst="rect">
            <a:avLst/>
          </a:prstGeom>
        </p:spPr>
      </p:pic>
      <p:pic>
        <p:nvPicPr>
          <p:cNvPr id="56" name="Gráfico 55" descr="Banco destaque">
            <a:extLst>
              <a:ext uri="{FF2B5EF4-FFF2-40B4-BE49-F238E27FC236}">
                <a16:creationId xmlns:a16="http://schemas.microsoft.com/office/drawing/2014/main" id="{0AD979B7-A19D-ABD2-DB3E-354B775D5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825" y="4776229"/>
            <a:ext cx="673559" cy="362700"/>
          </a:xfrm>
          <a:prstGeom prst="rect">
            <a:avLst/>
          </a:prstGeom>
        </p:spPr>
      </p:pic>
      <p:pic>
        <p:nvPicPr>
          <p:cNvPr id="58" name="Gráfico 57" descr="Gráfico de barras com tendência descendente com preenchimento sólido">
            <a:extLst>
              <a:ext uri="{FF2B5EF4-FFF2-40B4-BE49-F238E27FC236}">
                <a16:creationId xmlns:a16="http://schemas.microsoft.com/office/drawing/2014/main" id="{4B5A02DC-DFF2-C0AF-23C9-DB88080A9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142" y="5620378"/>
            <a:ext cx="509943" cy="457200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CAC10F1C-4D77-935B-38C5-412BBF773161}"/>
              </a:ext>
            </a:extLst>
          </p:cNvPr>
          <p:cNvGrpSpPr/>
          <p:nvPr/>
        </p:nvGrpSpPr>
        <p:grpSpPr>
          <a:xfrm>
            <a:off x="6104166" y="2880945"/>
            <a:ext cx="5788609" cy="3303037"/>
            <a:chOff x="6104166" y="2880945"/>
            <a:chExt cx="5788609" cy="3303037"/>
          </a:xfrm>
        </p:grpSpPr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id="{D94F8B40-2BB1-0BC2-2D1B-E7F2CBBB6C05}"/>
                </a:ext>
              </a:extLst>
            </p:cNvPr>
            <p:cNvSpPr/>
            <p:nvPr/>
          </p:nvSpPr>
          <p:spPr>
            <a:xfrm>
              <a:off x="6104166" y="2947517"/>
              <a:ext cx="5788609" cy="323646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/>
                <a:t> </a:t>
              </a:r>
              <a:r>
                <a:rPr lang="pt-AO" b="1" dirty="0"/>
                <a:t> </a:t>
              </a:r>
              <a:r>
                <a:rPr lang="pt-PT" dirty="0"/>
                <a:t> </a:t>
              </a:r>
              <a:endParaRPr lang="pt-AO" dirty="0"/>
            </a:p>
          </p:txBody>
        </p:sp>
        <p:cxnSp>
          <p:nvCxnSpPr>
            <p:cNvPr id="61" name="Conexão reta 60">
              <a:extLst>
                <a:ext uri="{FF2B5EF4-FFF2-40B4-BE49-F238E27FC236}">
                  <a16:creationId xmlns:a16="http://schemas.microsoft.com/office/drawing/2014/main" id="{C960C647-6C25-0DFB-49A4-9A6786A01E7B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67" y="3566745"/>
              <a:ext cx="5537771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3" name="object 132">
              <a:extLst>
                <a:ext uri="{FF2B5EF4-FFF2-40B4-BE49-F238E27FC236}">
                  <a16:creationId xmlns:a16="http://schemas.microsoft.com/office/drawing/2014/main" id="{8CD9E494-B4F6-CC24-B7A1-B74759BA2288}"/>
                </a:ext>
              </a:extLst>
            </p:cNvPr>
            <p:cNvSpPr txBox="1">
              <a:spLocks/>
            </p:cNvSpPr>
            <p:nvPr/>
          </p:nvSpPr>
          <p:spPr>
            <a:xfrm>
              <a:off x="7020459" y="3109766"/>
              <a:ext cx="3681095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b="1" kern="0" dirty="0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cs typeface="DIN2014-DemiBold"/>
                </a:rPr>
                <a:t>Objectivo estratégico do IGDA? </a:t>
              </a:r>
              <a:r>
                <a:rPr lang="pt-PT" b="1" kern="0" dirty="0">
                  <a:latin typeface="Arial Narrow" panose="020B0606020202030204" pitchFamily="34" charset="0"/>
                  <a:cs typeface="DIN2014-DemiBold"/>
                </a:rPr>
                <a:t> </a:t>
              </a:r>
              <a:r>
                <a:rPr lang="pt-PT" i="1" kern="0" dirty="0"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i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57" name="Gráfico 256" descr="Alvo com preenchimento sólido">
              <a:extLst>
                <a:ext uri="{FF2B5EF4-FFF2-40B4-BE49-F238E27FC236}">
                  <a16:creationId xmlns:a16="http://schemas.microsoft.com/office/drawing/2014/main" id="{D40F88D8-5B61-15E8-7B1E-2053A81AEE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62899" y="2880945"/>
              <a:ext cx="693348" cy="685800"/>
            </a:xfrm>
            <a:prstGeom prst="rect">
              <a:avLst/>
            </a:prstGeom>
          </p:spPr>
        </p:pic>
      </p:grpSp>
      <p:sp>
        <p:nvSpPr>
          <p:cNvPr id="261" name="object 132">
            <a:extLst>
              <a:ext uri="{FF2B5EF4-FFF2-40B4-BE49-F238E27FC236}">
                <a16:creationId xmlns:a16="http://schemas.microsoft.com/office/drawing/2014/main" id="{AC4B76BD-620E-3FF6-C558-1A5525805ACD}"/>
              </a:ext>
            </a:extLst>
          </p:cNvPr>
          <p:cNvSpPr txBox="1">
            <a:spLocks/>
          </p:cNvSpPr>
          <p:nvPr/>
        </p:nvSpPr>
        <p:spPr>
          <a:xfrm>
            <a:off x="6519322" y="3774826"/>
            <a:ext cx="52707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pt-AO" sz="1200" dirty="0"/>
              <a:t>“</a:t>
            </a:r>
            <a:r>
              <a:rPr lang="pt-PT" sz="1200" b="1" dirty="0"/>
              <a:t>Identificar as dimensões do desenvolvimento nacional em que a fraca performance está a impactar negativamente o ambiente institucional e operacional do BDA e do país</a:t>
            </a:r>
            <a:r>
              <a:rPr lang="pt-AO" sz="1200" b="1" dirty="0"/>
              <a:t>.”</a:t>
            </a:r>
          </a:p>
        </p:txBody>
      </p:sp>
      <p:sp>
        <p:nvSpPr>
          <p:cNvPr id="3" name="object 132">
            <a:extLst>
              <a:ext uri="{FF2B5EF4-FFF2-40B4-BE49-F238E27FC236}">
                <a16:creationId xmlns:a16="http://schemas.microsoft.com/office/drawing/2014/main" id="{6D3A05E0-B68B-8DEE-F894-1145A60F3CDD}"/>
              </a:ext>
            </a:extLst>
          </p:cNvPr>
          <p:cNvSpPr txBox="1">
            <a:spLocks/>
          </p:cNvSpPr>
          <p:nvPr/>
        </p:nvSpPr>
        <p:spPr>
          <a:xfrm>
            <a:off x="7009152" y="4549047"/>
            <a:ext cx="38902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Permitindo  orientar de forma estratégica a solicitação, priorização e canalização de recursos para os sectores com maior potencial de impacto </a:t>
            </a:r>
            <a:r>
              <a:rPr lang="pt-PT" sz="1200" kern="0" dirty="0" err="1">
                <a:latin typeface="Arial Narrow" panose="020B0606020202030204" pitchFamily="34" charset="0"/>
                <a:cs typeface="DIN2014-DemiBold"/>
              </a:rPr>
              <a:t>correctivo</a:t>
            </a:r>
            <a:r>
              <a:rPr lang="pt-PT" sz="1200" kern="0" dirty="0">
                <a:latin typeface="Arial Narrow" panose="020B0606020202030204" pitchFamily="34" charset="0"/>
                <a:cs typeface="DIN2014-DemiBold"/>
              </a:rPr>
              <a:t>.  </a:t>
            </a:r>
            <a:r>
              <a:rPr lang="pt-PT" sz="1200" i="1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200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47622572-441D-1AAF-B485-436B20B35CE8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122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(1/3)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400" dirty="0">
                <a:solidFill>
                  <a:schemeClr val="tx1"/>
                </a:solidFill>
              </a:rPr>
              <a:t>A construção segue as melhores práticas internacionais para índices compósitos, em particular o quadro de dez passos do </a:t>
            </a:r>
            <a:r>
              <a:rPr lang="pt-PT" sz="1400" dirty="0" err="1">
                <a:solidFill>
                  <a:schemeClr val="tx1"/>
                </a:solidFill>
              </a:rPr>
              <a:t>Handbook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on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Constructing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Composite</a:t>
            </a:r>
            <a:r>
              <a:rPr lang="pt-PT" sz="1400" dirty="0">
                <a:solidFill>
                  <a:schemeClr val="tx1"/>
                </a:solidFill>
              </a:rPr>
              <a:t> </a:t>
            </a:r>
            <a:r>
              <a:rPr lang="pt-PT" sz="1400" dirty="0" err="1">
                <a:solidFill>
                  <a:schemeClr val="tx1"/>
                </a:solidFill>
              </a:rPr>
              <a:t>Indicators</a:t>
            </a:r>
            <a:r>
              <a:rPr lang="pt-PT" sz="1400" dirty="0">
                <a:solidFill>
                  <a:schemeClr val="tx1"/>
                </a:solidFill>
              </a:rPr>
              <a:t> da OCDE e do </a:t>
            </a:r>
            <a:r>
              <a:rPr lang="pt-PT" sz="1400" dirty="0" err="1">
                <a:solidFill>
                  <a:schemeClr val="tx1"/>
                </a:solidFill>
              </a:rPr>
              <a:t>Joint</a:t>
            </a:r>
            <a:r>
              <a:rPr lang="pt-PT" sz="1400" dirty="0">
                <a:solidFill>
                  <a:schemeClr val="tx1"/>
                </a:solidFill>
              </a:rPr>
              <a:t> Research Centre da Comissão Europeia (OCDE/JRC, 2008).</a:t>
            </a:r>
          </a:p>
          <a:p>
            <a:endParaRPr lang="pt-PT" sz="1400" dirty="0">
              <a:solidFill>
                <a:schemeClr val="tx1"/>
              </a:solidFill>
            </a:endParaRPr>
          </a:p>
          <a:p>
            <a:r>
              <a:rPr lang="pt-PT" sz="1400" dirty="0">
                <a:solidFill>
                  <a:schemeClr val="tx1"/>
                </a:solidFill>
              </a:rPr>
              <a:t> Esse quadro estrutura o processo desde a definição de um enquadramento teórico, passando pela </a:t>
            </a:r>
            <a:r>
              <a:rPr lang="pt-PT" sz="1400" dirty="0" err="1">
                <a:solidFill>
                  <a:schemeClr val="tx1"/>
                </a:solidFill>
              </a:rPr>
              <a:t>selecção</a:t>
            </a:r>
            <a:r>
              <a:rPr lang="pt-PT" sz="1400" dirty="0">
                <a:solidFill>
                  <a:schemeClr val="tx1"/>
                </a:solidFill>
              </a:rPr>
              <a:t> e tratamento de dados, normalização, ponderação e agregação, até à análise de robustez e à comunicação dos resultados.  </a:t>
            </a:r>
            <a:r>
              <a:rPr lang="pt-AO" sz="1400" dirty="0">
                <a:solidFill>
                  <a:schemeClr val="tx1"/>
                </a:solidFill>
              </a:rPr>
              <a:t> </a:t>
            </a:r>
            <a:endParaRPr lang="pt-PT" sz="1400" dirty="0">
              <a:solidFill>
                <a:schemeClr val="tx1"/>
              </a:solidFill>
            </a:endParaRPr>
          </a:p>
          <a:p>
            <a:endParaRPr lang="pt-PT" sz="1400" dirty="0">
              <a:solidFill>
                <a:schemeClr val="tx1"/>
              </a:solidFill>
            </a:endParaRPr>
          </a:p>
          <a:p>
            <a:endParaRPr lang="pt-AO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Os dez passos para a construção do Indicador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6) ponderação e agregação;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7) análise de incerteza e sensibilidade;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8) regresso aos dados (desconstrução);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9) ligação a outros indicadores; e </a:t>
            </a:r>
          </a:p>
          <a:p>
            <a:pPr marL="12700">
              <a:spcBef>
                <a:spcPts val="100"/>
              </a:spcBef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10) visualização e comunicação. 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41300" indent="-228600">
              <a:spcBef>
                <a:spcPts val="100"/>
              </a:spcBef>
              <a:buAutoNum type="arabicParenR"/>
              <a:defRPr/>
            </a:pPr>
            <a:r>
              <a:rPr lang="pt-PT" sz="1400" b="1" dirty="0"/>
              <a:t>quadro teórico; </a:t>
            </a:r>
          </a:p>
          <a:p>
            <a:pPr marL="241300" indent="-228600">
              <a:spcBef>
                <a:spcPts val="100"/>
              </a:spcBef>
              <a:buAutoNum type="arabicParenR"/>
              <a:defRPr/>
            </a:pPr>
            <a:endParaRPr lang="pt-PT" sz="1400" b="1" dirty="0"/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2) </a:t>
            </a:r>
            <a:r>
              <a:rPr lang="pt-PT" sz="1400" b="1" dirty="0" err="1"/>
              <a:t>selecção</a:t>
            </a:r>
            <a:r>
              <a:rPr lang="pt-PT" sz="1400" b="1" dirty="0"/>
              <a:t> de dados;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3) tratamento de dados em falta;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4) análise multivariada;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 </a:t>
            </a:r>
          </a:p>
          <a:p>
            <a:pPr marL="12700">
              <a:spcBef>
                <a:spcPts val="100"/>
              </a:spcBef>
              <a:defRPr/>
            </a:pPr>
            <a:r>
              <a:rPr lang="pt-PT" sz="1400" b="1" dirty="0"/>
              <a:t>5) normalização</a:t>
            </a:r>
            <a:endParaRPr lang="pt-AO" sz="1400" b="1" dirty="0"/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(2/3)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Arquitectura em três níveis — indicadores → dimensões → índice global —, inspirada no Índice de Desenvolvimento Humano. O motor de selecção do construtor parte de um catálogo de 331 indicadores candidatos e escolhe automaticamente os melhores de cada dimensão, com curadoria de não-redundância.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Resultado: 41 indicadores em 8 dimensões activas (de 11 definidas); 19 dos 41 têm fonte nacional (INE, BNA, MINFIN, MINSA, MINEA, MINTRANS).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Arquitectura do índice e selecção de indicadores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Dimensões activas (n.º de indicadores)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Governança e Estado de Direito (5)  ·  Estabilidade Macroeconómica (7)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Capital Humano (4)  ·  Inclusão Social e Protecção (3)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Infraestruturas e Serviços (5)  ·  Mercado de Trabalho (5)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Segurança Alimentar e Saúde (7)  ·  Diversificação e Sector Privado (5)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Inactivas (sem indicadores elegíveis): Ambiente e Clima; Demografia e Território; Digital e Inovação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Critérios de selecção (score por candidato)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Relevância — peso 0,40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Completude — peso 0,35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Consistência — peso 0,25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Bonificação de fonte nacional: +12 pontos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Elegibilidade: última observação em 2023 ou depois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Anti-duplicação: só o melhor indicador de cada grupo temático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2 – COMO O ÍNDICE FOI CONSTRUÍDO? (3/3)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As séries anuais (2015–2025) são completadas de forma conservadora, convertidas para uma escala comum de 0 a 100 e agregadas em dois níveis, com pesos iguais — um desenho transparente, reproduzível e auditável, alinhado com o IDH.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Nota: 2025 assenta, em parte, em extrapolação (carry-forward) e deve ser lido como provisório.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Do dado ao índice: lacunas, normalização e agregação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Agregação e leitura da escala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Dentro de cada dimensão: média aritmética dos scores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Entre dimensões: média geométrica — penaliza desequilíbrios; défices graves não são compensados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Pesos iguais: opção recomendada pela OCDE/JRC pela sua transparência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Bandas de leitura: 80–100 Muito Elevado · 60–80 Elevado · 40–60 Médio · 20–40 Baixo · 0–20 Muito Baixo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Tratamento de lacunas e normalização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Interpolação linear em lacunas internas (máx. 2 anos)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Carry-forward / carry-backward nos extremos (máx. 2 anos)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Cobertura mínima: 75% dos indicadores por dimensão; IGDA exige ≥ 4 dimensões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Normalização min–máx para 0–100, com goalposts normativos fixos por indicador (escala oficial da fonte, limite natural ou benchmark documentado)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Sentido invertido quando “menos é melhor” (inflação, desemprego, mortalidade)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46109-55AF-694E-5ED2-DB048EC1F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2F63111-77C5-B3DA-758B-DA34AA659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82BCD580-EE7C-F2C3-9E86-9A91DFBB918E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3DC9C499-B2A0-863F-9528-83F7537FEF4C}"/>
              </a:ext>
            </a:extLst>
          </p:cNvPr>
          <p:cNvSpPr txBox="1">
            <a:spLocks/>
          </p:cNvSpPr>
          <p:nvPr/>
        </p:nvSpPr>
        <p:spPr>
          <a:xfrm>
            <a:off x="507714" y="16871"/>
            <a:ext cx="527488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</a:t>
            </a:r>
            <a:r>
              <a:rPr lang="pt-PT" sz="2400" b="1" u="sng" kern="0" noProof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– </a:t>
            </a: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Resultados preliminares</a:t>
            </a:r>
            <a:r>
              <a:rPr lang="pt-PT" sz="2400" b="1" u="sng" kern="0" noProof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_2015 – 2025 (1/4</a:t>
            </a:r>
            <a:r>
              <a:rPr lang="pt-PT" sz="2400" b="1" u="sng" kern="0" noProof="0" dirty="0">
                <a:latin typeface="Arial Narrow" panose="020B0606020202030204" pitchFamily="34" charset="0"/>
                <a:cs typeface="DIN2014-DemiBold"/>
              </a:rPr>
              <a:t>)</a:t>
            </a:r>
            <a:r>
              <a:rPr lang="pt-PT" sz="3000" b="1" u="sng" kern="0" noProof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A4CB7E28-C08F-FFBC-3DA4-77AA668C04A7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2327FDC-03D6-E8CB-B82E-44CA6CC124D2}"/>
              </a:ext>
            </a:extLst>
          </p:cNvPr>
          <p:cNvSpPr/>
          <p:nvPr/>
        </p:nvSpPr>
        <p:spPr>
          <a:xfrm>
            <a:off x="1163786" y="505130"/>
            <a:ext cx="10367116" cy="474489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noProof="0" dirty="0">
                <a:solidFill>
                  <a:schemeClr val="bg1"/>
                </a:solidFill>
              </a:rPr>
              <a:t>Indicadores Chave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16D80F5-1B72-EA2C-27FE-BCBB1FC657E4}"/>
              </a:ext>
            </a:extLst>
          </p:cNvPr>
          <p:cNvGrpSpPr/>
          <p:nvPr/>
        </p:nvGrpSpPr>
        <p:grpSpPr>
          <a:xfrm>
            <a:off x="412475" y="1173072"/>
            <a:ext cx="1797325" cy="502920"/>
            <a:chOff x="4632743" y="4097466"/>
            <a:chExt cx="1809639" cy="502920"/>
          </a:xfrm>
        </p:grpSpPr>
        <p:sp>
          <p:nvSpPr>
            <p:cNvPr id="5" name="Rounded Rectangle 9033">
              <a:extLst>
                <a:ext uri="{FF2B5EF4-FFF2-40B4-BE49-F238E27FC236}">
                  <a16:creationId xmlns:a16="http://schemas.microsoft.com/office/drawing/2014/main" id="{ACF43305-5A5B-3709-2FD7-5BBB55BAE003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6" name="TextBox 9034">
              <a:extLst>
                <a:ext uri="{FF2B5EF4-FFF2-40B4-BE49-F238E27FC236}">
                  <a16:creationId xmlns:a16="http://schemas.microsoft.com/office/drawing/2014/main" id="{8FE611BE-3859-5E8C-8577-4FBE5F98B2AE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45,7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" name="TextBox 9035">
              <a:extLst>
                <a:ext uri="{FF2B5EF4-FFF2-40B4-BE49-F238E27FC236}">
                  <a16:creationId xmlns:a16="http://schemas.microsoft.com/office/drawing/2014/main" id="{C6A30161-4A29-9EB6-B16E-DD60A2F6876A}"/>
                </a:ext>
              </a:extLst>
            </p:cNvPr>
            <p:cNvSpPr txBox="1"/>
            <p:nvPr/>
          </p:nvSpPr>
          <p:spPr>
            <a:xfrm>
              <a:off x="4944336" y="4462135"/>
              <a:ext cx="1295265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i="0" dirty="0">
                  <a:latin typeface="DM Sans"/>
                </a:rPr>
                <a:t>IGDA 2025</a:t>
              </a:r>
              <a:endParaRPr lang="pt-PT" sz="750" b="1" i="0" noProof="0" dirty="0">
                <a:latin typeface="DM Sans"/>
              </a:endParaRP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3C042FF-C6DA-4F34-93BE-C481235934C6}"/>
              </a:ext>
            </a:extLst>
          </p:cNvPr>
          <p:cNvGrpSpPr/>
          <p:nvPr/>
        </p:nvGrpSpPr>
        <p:grpSpPr>
          <a:xfrm>
            <a:off x="2677466" y="1914003"/>
            <a:ext cx="1931760" cy="502920"/>
            <a:chOff x="4632743" y="4097466"/>
            <a:chExt cx="1809639" cy="502920"/>
          </a:xfrm>
        </p:grpSpPr>
        <p:sp>
          <p:nvSpPr>
            <p:cNvPr id="18" name="Rounded Rectangle 9033">
              <a:extLst>
                <a:ext uri="{FF2B5EF4-FFF2-40B4-BE49-F238E27FC236}">
                  <a16:creationId xmlns:a16="http://schemas.microsoft.com/office/drawing/2014/main" id="{5A779E3D-6C96-913A-9B0E-D9FB1C00303B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9" name="TextBox 9034">
              <a:extLst>
                <a:ext uri="{FF2B5EF4-FFF2-40B4-BE49-F238E27FC236}">
                  <a16:creationId xmlns:a16="http://schemas.microsoft.com/office/drawing/2014/main" id="{14D810A0-8E5C-8B50-7E5E-893A01862A48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39,7</a:t>
              </a:r>
            </a:p>
          </p:txBody>
        </p:sp>
        <p:sp>
          <p:nvSpPr>
            <p:cNvPr id="20" name="TextBox 9035">
              <a:extLst>
                <a:ext uri="{FF2B5EF4-FFF2-40B4-BE49-F238E27FC236}">
                  <a16:creationId xmlns:a16="http://schemas.microsoft.com/office/drawing/2014/main" id="{764EE4C7-2101-910A-6845-C86A39299790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0" i="0" noProof="0" dirty="0">
                  <a:solidFill>
                    <a:srgbClr val="3A3A3A"/>
                  </a:solidFill>
                  <a:latin typeface="DM Sans"/>
                </a:rPr>
                <a:t>Mínimo da série (2020)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CE8FA4D-057C-B37D-170A-79552A0320C7}"/>
              </a:ext>
            </a:extLst>
          </p:cNvPr>
          <p:cNvGrpSpPr/>
          <p:nvPr/>
        </p:nvGrpSpPr>
        <p:grpSpPr>
          <a:xfrm>
            <a:off x="5045160" y="1149152"/>
            <a:ext cx="1931760" cy="502920"/>
            <a:chOff x="4632743" y="4097466"/>
            <a:chExt cx="1809639" cy="502920"/>
          </a:xfrm>
        </p:grpSpPr>
        <p:sp>
          <p:nvSpPr>
            <p:cNvPr id="24" name="Rounded Rectangle 9033">
              <a:extLst>
                <a:ext uri="{FF2B5EF4-FFF2-40B4-BE49-F238E27FC236}">
                  <a16:creationId xmlns:a16="http://schemas.microsoft.com/office/drawing/2014/main" id="{7AC20F24-A0C4-5925-63B1-4C2FEF7064A1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25" name="TextBox 9034">
              <a:extLst>
                <a:ext uri="{FF2B5EF4-FFF2-40B4-BE49-F238E27FC236}">
                  <a16:creationId xmlns:a16="http://schemas.microsoft.com/office/drawing/2014/main" id="{05D4C85E-3B03-E8A9-FC14-B116223AECBC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+3,4 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6" name="TextBox 9035">
              <a:extLst>
                <a:ext uri="{FF2B5EF4-FFF2-40B4-BE49-F238E27FC236}">
                  <a16:creationId xmlns:a16="http://schemas.microsoft.com/office/drawing/2014/main" id="{5F27C6E3-DE28-FB14-A3BD-EC843D5D7FD3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noProof="0" dirty="0">
                  <a:solidFill>
                    <a:srgbClr val="3A3A3A"/>
                  </a:solidFill>
                  <a:latin typeface="DM Sans"/>
                </a:rPr>
                <a:t>Variação 2015–2025 (p.p.)</a:t>
              </a:r>
              <a:endParaRPr lang="pt-PT" sz="750" b="1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060BBA0-E693-74D0-8938-6495CE56DD0F}"/>
              </a:ext>
            </a:extLst>
          </p:cNvPr>
          <p:cNvGrpSpPr/>
          <p:nvPr/>
        </p:nvGrpSpPr>
        <p:grpSpPr>
          <a:xfrm>
            <a:off x="432011" y="1890731"/>
            <a:ext cx="1804189" cy="502920"/>
            <a:chOff x="4632743" y="4097466"/>
            <a:chExt cx="1809639" cy="502920"/>
          </a:xfrm>
        </p:grpSpPr>
        <p:sp>
          <p:nvSpPr>
            <p:cNvPr id="29" name="Rounded Rectangle 9033">
              <a:extLst>
                <a:ext uri="{FF2B5EF4-FFF2-40B4-BE49-F238E27FC236}">
                  <a16:creationId xmlns:a16="http://schemas.microsoft.com/office/drawing/2014/main" id="{96C2C262-1216-40FD-94DC-0E16FD6A9F23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0" name="TextBox 9034">
              <a:extLst>
                <a:ext uri="{FF2B5EF4-FFF2-40B4-BE49-F238E27FC236}">
                  <a16:creationId xmlns:a16="http://schemas.microsoft.com/office/drawing/2014/main" id="{070F8278-E26C-ED4E-C0AE-7307B08CD1CC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6 / 8</a:t>
              </a:r>
            </a:p>
          </p:txBody>
        </p:sp>
        <p:sp>
          <p:nvSpPr>
            <p:cNvPr id="33" name="TextBox 9035">
              <a:extLst>
                <a:ext uri="{FF2B5EF4-FFF2-40B4-BE49-F238E27FC236}">
                  <a16:creationId xmlns:a16="http://schemas.microsoft.com/office/drawing/2014/main" id="{3C5639F6-6D83-31A5-88C9-77CE793E2231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dirty="0">
                  <a:solidFill>
                    <a:srgbClr val="3A3A3A"/>
                  </a:solidFill>
                  <a:latin typeface="DM Sans"/>
                </a:rPr>
                <a:t>Dimensões em progresso</a:t>
              </a:r>
              <a:endParaRPr lang="pt-PT" sz="750" b="0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A0087A27-8275-C8D9-5158-D144D7D02B82}"/>
              </a:ext>
            </a:extLst>
          </p:cNvPr>
          <p:cNvGrpSpPr/>
          <p:nvPr/>
        </p:nvGrpSpPr>
        <p:grpSpPr>
          <a:xfrm>
            <a:off x="2659558" y="1149152"/>
            <a:ext cx="1909706" cy="502920"/>
            <a:chOff x="4632743" y="4097466"/>
            <a:chExt cx="1809639" cy="502920"/>
          </a:xfrm>
        </p:grpSpPr>
        <p:sp>
          <p:nvSpPr>
            <p:cNvPr id="35" name="Rounded Rectangle 9033">
              <a:extLst>
                <a:ext uri="{FF2B5EF4-FFF2-40B4-BE49-F238E27FC236}">
                  <a16:creationId xmlns:a16="http://schemas.microsoft.com/office/drawing/2014/main" id="{8BB94840-37F9-7562-8C3A-1C051C055E8C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36" name="TextBox 9034">
              <a:extLst>
                <a:ext uri="{FF2B5EF4-FFF2-40B4-BE49-F238E27FC236}">
                  <a16:creationId xmlns:a16="http://schemas.microsoft.com/office/drawing/2014/main" id="{0038EA4C-A88B-8B2E-4934-E85240572591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i="0" noProof="0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42,2</a:t>
              </a:r>
            </a:p>
          </p:txBody>
        </p:sp>
        <p:sp>
          <p:nvSpPr>
            <p:cNvPr id="37" name="TextBox 9035">
              <a:extLst>
                <a:ext uri="{FF2B5EF4-FFF2-40B4-BE49-F238E27FC236}">
                  <a16:creationId xmlns:a16="http://schemas.microsoft.com/office/drawing/2014/main" id="{83137D18-9D13-AFAA-405D-DA674DF194F6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b="1" noProof="0" dirty="0">
                  <a:latin typeface="DM Sans"/>
                </a:rPr>
                <a:t>IGDA 2015</a:t>
              </a:r>
              <a:endParaRPr lang="pt-PT" sz="750" b="1" i="0" noProof="0" dirty="0">
                <a:latin typeface="DM Sans"/>
              </a:endParaRP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A8BD42E-CBEE-F713-292C-EB49BC8FF2BB}"/>
              </a:ext>
            </a:extLst>
          </p:cNvPr>
          <p:cNvGrpSpPr/>
          <p:nvPr/>
        </p:nvGrpSpPr>
        <p:grpSpPr>
          <a:xfrm>
            <a:off x="5062638" y="1894718"/>
            <a:ext cx="1931761" cy="502920"/>
            <a:chOff x="4632743" y="4097466"/>
            <a:chExt cx="1809639" cy="502920"/>
          </a:xfrm>
        </p:grpSpPr>
        <p:sp>
          <p:nvSpPr>
            <p:cNvPr id="39" name="Rounded Rectangle 9033">
              <a:extLst>
                <a:ext uri="{FF2B5EF4-FFF2-40B4-BE49-F238E27FC236}">
                  <a16:creationId xmlns:a16="http://schemas.microsoft.com/office/drawing/2014/main" id="{B18A9552-C4C9-15E5-0098-5DECD8FD5F8F}"/>
                </a:ext>
              </a:extLst>
            </p:cNvPr>
            <p:cNvSpPr/>
            <p:nvPr/>
          </p:nvSpPr>
          <p:spPr>
            <a:xfrm>
              <a:off x="4632743" y="4097466"/>
              <a:ext cx="1809639" cy="502920"/>
            </a:xfrm>
            <a:prstGeom prst="roundRect">
              <a:avLst>
                <a:gd name="adj" fmla="val 12000"/>
              </a:avLst>
            </a:prstGeom>
            <a:solidFill>
              <a:srgbClr val="FAFAFA"/>
            </a:solidFill>
            <a:ln w="6350">
              <a:solidFill>
                <a:srgbClr val="DCDC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40" name="TextBox 9034">
              <a:extLst>
                <a:ext uri="{FF2B5EF4-FFF2-40B4-BE49-F238E27FC236}">
                  <a16:creationId xmlns:a16="http://schemas.microsoft.com/office/drawing/2014/main" id="{E28EF730-D6F5-F8E8-0CE2-24B1AB85568E}"/>
                </a:ext>
              </a:extLst>
            </p:cNvPr>
            <p:cNvSpPr txBox="1"/>
            <p:nvPr/>
          </p:nvSpPr>
          <p:spPr>
            <a:xfrm>
              <a:off x="4944337" y="4200267"/>
              <a:ext cx="1219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1100" b="1" dirty="0">
                  <a:solidFill>
                    <a:srgbClr val="B85522"/>
                  </a:solidFill>
                  <a:latin typeface="Arial Narrow" panose="020B0606020202030204" pitchFamily="34" charset="0"/>
                </a:rPr>
                <a:t>Médio</a:t>
              </a:r>
              <a:endParaRPr lang="pt-PT" sz="1100" b="1" i="0" noProof="0" dirty="0">
                <a:solidFill>
                  <a:srgbClr val="B8552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1" name="TextBox 9035">
              <a:extLst>
                <a:ext uri="{FF2B5EF4-FFF2-40B4-BE49-F238E27FC236}">
                  <a16:creationId xmlns:a16="http://schemas.microsoft.com/office/drawing/2014/main" id="{7784BD3A-B97A-00D3-521C-C984E7C2C013}"/>
                </a:ext>
              </a:extLst>
            </p:cNvPr>
            <p:cNvSpPr txBox="1"/>
            <p:nvPr/>
          </p:nvSpPr>
          <p:spPr>
            <a:xfrm>
              <a:off x="4944337" y="4462135"/>
              <a:ext cx="1219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pt-PT" sz="750" dirty="0">
                  <a:solidFill>
                    <a:srgbClr val="3A3A3A"/>
                  </a:solidFill>
                  <a:latin typeface="DM Sans"/>
                </a:rPr>
                <a:t>Classificação IGDA 2025 (40–60) </a:t>
              </a:r>
              <a:endParaRPr lang="pt-PT" sz="750" b="0" i="0" noProof="0" dirty="0">
                <a:solidFill>
                  <a:srgbClr val="3A3A3A"/>
                </a:solidFill>
                <a:latin typeface="DM Sans"/>
              </a:endParaRPr>
            </a:p>
          </p:txBody>
        </p:sp>
      </p:grpSp>
      <p:sp>
        <p:nvSpPr>
          <p:cNvPr id="2" name="object 258">
            <a:extLst>
              <a:ext uri="{FF2B5EF4-FFF2-40B4-BE49-F238E27FC236}">
                <a16:creationId xmlns:a16="http://schemas.microsoft.com/office/drawing/2014/main" id="{80957E44-A655-6EED-1621-3D70216DD92B}"/>
              </a:ext>
            </a:extLst>
          </p:cNvPr>
          <p:cNvSpPr/>
          <p:nvPr/>
        </p:nvSpPr>
        <p:spPr>
          <a:xfrm>
            <a:off x="351615" y="23496"/>
            <a:ext cx="84801" cy="506467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 descr="Gráfico de barras com tendência ascendente destaque">
            <a:extLst>
              <a:ext uri="{FF2B5EF4-FFF2-40B4-BE49-F238E27FC236}">
                <a16:creationId xmlns:a16="http://schemas.microsoft.com/office/drawing/2014/main" id="{75F1FE3C-D5A0-7B90-2D97-00966F23B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47" y="787838"/>
            <a:ext cx="656072" cy="497475"/>
          </a:xfrm>
          <a:prstGeom prst="rect">
            <a:avLst/>
          </a:prstGeom>
        </p:spPr>
      </p:pic>
      <p:sp>
        <p:nvSpPr>
          <p:cNvPr id="901" name="Destaques Cabecalho"/>
          <p:cNvSpPr/>
          <p:nvPr/>
        </p:nvSpPr>
        <p:spPr>
          <a:xfrm>
            <a:off x="7391400" y="1182960"/>
            <a:ext cx="4064000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000" b="1" dirty="0">
                <a:solidFill>
                  <a:srgbClr val="FFFFFF"/>
                </a:solidFill>
                <a:latin typeface="Calibri"/>
              </a:rPr>
              <a:t>DESTAQUES</a:t>
            </a:r>
          </a:p>
        </p:txBody>
      </p:sp>
      <p:sp>
        <p:nvSpPr>
          <p:cNvPr id="902" name="Destaques Corpo"/>
          <p:cNvSpPr/>
          <p:nvPr/>
        </p:nvSpPr>
        <p:spPr>
          <a:xfrm>
            <a:off x="7391400" y="1420704"/>
            <a:ext cx="4064000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91440" rIns="73152" tIns="63500" bIns="45720" anchor="t" wrap="square"/>
          <a:lstStyle/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IGDA 2025: 45,7 — máximo da série (v8); classificação Médio (40–60)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Variação 2015–2025: +3,4 p.p.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Mínimo da série: 39,7 (2020, choque pandémico)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Trajectória: 6 de 8 dimensões melhoraram face a 2015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Evolução — lideram: Diversificação +24,0% e Governança +21,1% (2015 = 100)</a:t>
            </a:r>
          </a:p>
          <a:p>
            <a:pPr marL="107950" indent="-107950" algn="l">
              <a:spcBef>
                <a:spcPts val="300"/>
              </a:spcBef>
              <a:buFont typeface="Arial"/>
              <a:buChar char="•"/>
            </a:pPr>
            <a:r>
              <a:rPr lang="pt-PT" sz="850" b="1" dirty="0">
                <a:solidFill>
                  <a:srgbClr val="1A1A1A"/>
                </a:solidFill>
                <a:latin typeface="Calibri"/>
              </a:rPr>
              <a:t>Evolução — recuam: Saúde/Alimentar −3,8% e Inclusão Social −2,7%</a:t>
            </a:r>
          </a:p>
        </p:txBody>
      </p:sp>
      <p:sp>
        <p:nvSpPr>
          <p:cNvPr id="903" name="Nota Comparabilidade"/>
          <p:cNvSpPr txBox="1"/>
          <p:nvPr/>
        </p:nvSpPr>
        <p:spPr>
          <a:xfrm>
            <a:off x="1517904" y="5440680"/>
            <a:ext cx="8988552" cy="384048"/>
          </a:xfrm>
          <a:prstGeom prst="rect">
            <a:avLst/>
          </a:prstGeom>
          <a:noFill/>
        </p:spPr>
        <p:txBody>
          <a:bodyPr lIns="0" rIns="0" tIns="0" bIns="0" wrap="square"/>
          <a:lstStyle/>
          <a:p>
            <a:pPr algn="l"/>
            <a:r>
              <a:rPr lang="pt-PT" sz="800" i="1" dirty="0">
                <a:solidFill>
                  <a:srgbClr val="595959"/>
                </a:solidFill>
                <a:latin typeface="Calibri"/>
              </a:rPr>
              <a:t>Nota de leitura: os subíndices não são comparáveis entre dimensões — cada dimensão tem fronteiras de normalização próprias. Cada subíndice deve ser lido face à sua própria trajectória no tempo, e não em nível contra as restantes.</a:t>
            </a:r>
          </a:p>
        </p:txBody>
      </p:sp>
      <p:sp>
        <p:nvSpPr>
          <p:cNvPr id="911" name="Titulo Tabela"/>
          <p:cNvSpPr/>
          <p:nvPr/>
        </p:nvSpPr>
        <p:spPr>
          <a:xfrm>
            <a:off x="1640434" y="2669182"/>
            <a:ext cx="89108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100" b="1" dirty="0">
                <a:solidFill>
                  <a:srgbClr val="FFFFFF"/>
                </a:solidFill>
                <a:latin typeface="Calibri"/>
              </a:rPr>
              <a:t>EVOLUÇÃO DOS SUBÍNDICES</a:t>
            </a:r>
          </a:p>
        </p:txBody>
      </p:sp>
      <p:graphicFrame>
        <p:nvGraphicFramePr>
          <p:cNvPr id="910" name="Tabela Subindices"/>
          <p:cNvGraphicFramePr>
            <a:graphicFrameLocks noGrp="1"/>
          </p:cNvGraphicFramePr>
          <p:nvPr/>
        </p:nvGraphicFramePr>
        <p:xfrm>
          <a:off x="1640434" y="2943502"/>
          <a:ext cx="8910828" cy="2180844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1417320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  <a:gridCol w="68122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Governança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27,4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28,0</a:t>
                      </a:r>
                    </a:p>
                  </a:txBody>
                  <a:tcPr marL="27432" marR="27432" marT="9144" marB="9144" anchor="ctr">
                    <a:solidFill>
                      <a:srgbClr val="F9B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27,7</a:t>
                      </a:r>
                    </a:p>
                  </a:txBody>
                  <a:tcPr marL="27432" marR="27432" marT="9144" marB="9144" anchor="ctr">
                    <a:solidFill>
                      <a:srgbClr val="F9AB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29,6</a:t>
                      </a:r>
                    </a:p>
                  </a:txBody>
                  <a:tcPr marL="27432" marR="27432" marT="9144" marB="9144" anchor="ctr">
                    <a:solidFill>
                      <a:srgbClr val="FDCF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31,7</a:t>
                      </a:r>
                    </a:p>
                  </a:txBody>
                  <a:tcPr marL="27432" marR="27432" marT="9144" marB="9144" anchor="ctr">
                    <a:solidFill>
                      <a:srgbClr val="E4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30,8</a:t>
                      </a:r>
                    </a:p>
                  </a:txBody>
                  <a:tcPr marL="27432" marR="27432" marT="9144" marB="9144" anchor="ctr">
                    <a:solidFill>
                      <a:srgbClr val="F8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31,1</a:t>
                      </a:r>
                    </a:p>
                  </a:txBody>
                  <a:tcPr marL="27432" marR="27432" marT="9144" marB="9144" anchor="ctr">
                    <a:solidFill>
                      <a:srgbClr val="F2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33,0</a:t>
                      </a:r>
                    </a:p>
                  </a:txBody>
                  <a:tcPr marL="27432" marR="27432" marT="9144" marB="9144" anchor="ctr">
                    <a:solidFill>
                      <a:srgbClr val="C6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33,6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33,2</a:t>
                      </a:r>
                    </a:p>
                  </a:txBody>
                  <a:tcPr marL="27432" marR="27432" marT="9144" marB="9144" anchor="ctr">
                    <a:solidFill>
                      <a:srgbClr val="C1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33,2</a:t>
                      </a:r>
                    </a:p>
                  </a:txBody>
                  <a:tcPr marL="27432" marR="27432" marT="9144" marB="9144" anchor="ctr">
                    <a:solidFill>
                      <a:srgbClr val="C1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Macroeconomia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48,7</a:t>
                      </a:r>
                    </a:p>
                  </a:txBody>
                  <a:tcPr marL="27432" marR="27432" marT="9144" marB="9144" anchor="ctr">
                    <a:solidFill>
                      <a:srgbClr val="BC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44,0</a:t>
                      </a:r>
                    </a:p>
                  </a:txBody>
                  <a:tcPr marL="27432" marR="27432" marT="9144" marB="9144" anchor="ctr">
                    <a:solidFill>
                      <a:srgbClr val="E4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42,5</a:t>
                      </a:r>
                    </a:p>
                  </a:txBody>
                  <a:tcPr marL="27432" marR="27432" marT="9144" marB="9144" anchor="ctr">
                    <a:solidFill>
                      <a:srgbClr val="D2DD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46,6</a:t>
                      </a:r>
                    </a:p>
                  </a:txBody>
                  <a:tcPr marL="27432" marR="27432" marT="9144" marB="9144" anchor="ctr">
                    <a:solidFill>
                      <a:srgbClr val="DE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43,7</a:t>
                      </a:r>
                    </a:p>
                  </a:txBody>
                  <a:tcPr marL="27432" marR="27432" marT="9144" marB="9144" anchor="ctr">
                    <a:solidFill>
                      <a:srgbClr val="E7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34,1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27432" marR="27432" marT="9144" marB="9144" anchor="ctr">
                    <a:solidFill>
                      <a:srgbClr val="BF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50,2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46,7</a:t>
                      </a:r>
                    </a:p>
                  </a:txBody>
                  <a:tcPr marL="27432" marR="27432" marT="9144" marB="9144" anchor="ctr">
                    <a:solidFill>
                      <a:srgbClr val="CC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49,0</a:t>
                      </a:r>
                    </a:p>
                  </a:txBody>
                  <a:tcPr marL="27432" marR="27432" marT="9144" marB="9144" anchor="ctr">
                    <a:solidFill>
                      <a:srgbClr val="C0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49,3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Capital Humano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50,5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56,9</a:t>
                      </a:r>
                    </a:p>
                  </a:txBody>
                  <a:tcPr marL="27432" marR="27432" marT="9144" marB="9144" anchor="ctr">
                    <a:solidFill>
                      <a:srgbClr val="DC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56,6</a:t>
                      </a:r>
                    </a:p>
                  </a:txBody>
                  <a:tcPr marL="27432" marR="27432" marT="9144" marB="9144" anchor="ctr">
                    <a:solidFill>
                      <a:srgbClr val="E1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56,3</a:t>
                      </a:r>
                    </a:p>
                  </a:txBody>
                  <a:tcPr marL="27432" marR="27432" marT="9144" marB="9144" anchor="ctr">
                    <a:solidFill>
                      <a:srgbClr val="E6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56,3</a:t>
                      </a:r>
                    </a:p>
                  </a:txBody>
                  <a:tcPr marL="27432" marR="27432" marT="9144" marB="9144" anchor="ctr">
                    <a:solidFill>
                      <a:srgbClr val="E5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57,9</a:t>
                      </a:r>
                    </a:p>
                  </a:txBody>
                  <a:tcPr marL="27432" marR="27432" marT="9144" marB="9144" anchor="ctr">
                    <a:solidFill>
                      <a:srgbClr val="CA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57,0</a:t>
                      </a:r>
                    </a:p>
                  </a:txBody>
                  <a:tcPr marL="27432" marR="27432" marT="9144" marB="9144" anchor="ctr">
                    <a:solidFill>
                      <a:srgbClr val="DA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58,0</a:t>
                      </a:r>
                    </a:p>
                  </a:txBody>
                  <a:tcPr marL="27432" marR="27432" marT="9144" marB="9144" anchor="ctr">
                    <a:solidFill>
                      <a:srgbClr val="C8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58,7</a:t>
                      </a:r>
                    </a:p>
                  </a:txBody>
                  <a:tcPr marL="27432" marR="27432" marT="9144" marB="9144" anchor="ctr">
                    <a:solidFill>
                      <a:srgbClr val="BD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58,9</a:t>
                      </a:r>
                    </a:p>
                  </a:txBody>
                  <a:tcPr marL="27432" marR="27432" marT="9144" marB="9144" anchor="ctr">
                    <a:solidFill>
                      <a:srgbClr val="B9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59,1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Inclusão Social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50,8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47,5</a:t>
                      </a:r>
                    </a:p>
                  </a:txBody>
                  <a:tcPr marL="27432" marR="27432" marT="9144" marB="9144" anchor="ctr">
                    <a:solidFill>
                      <a:srgbClr val="EA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42,7</a:t>
                      </a:r>
                    </a:p>
                  </a:txBody>
                  <a:tcPr marL="27432" marR="27432" marT="9144" marB="9144" anchor="ctr">
                    <a:solidFill>
                      <a:srgbClr val="FAB3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42,2</a:t>
                      </a:r>
                    </a:p>
                  </a:txBody>
                  <a:tcPr marL="27432" marR="27432" marT="9144" marB="9144" anchor="ctr">
                    <a:solidFill>
                      <a:srgbClr val="F9AC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42,7</a:t>
                      </a:r>
                    </a:p>
                  </a:txBody>
                  <a:tcPr marL="27432" marR="27432" marT="9144" marB="9144" anchor="ctr">
                    <a:solidFill>
                      <a:srgbClr val="FAB3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42,1</a:t>
                      </a:r>
                    </a:p>
                  </a:txBody>
                  <a:tcPr marL="27432" marR="27432" marT="9144" marB="9144" anchor="ctr">
                    <a:solidFill>
                      <a:srgbClr val="F9AB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41,7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44,1</a:t>
                      </a:r>
                    </a:p>
                  </a:txBody>
                  <a:tcPr marL="27432" marR="27432" marT="9144" marB="9144" anchor="ctr">
                    <a:solidFill>
                      <a:srgbClr val="FCC5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45,5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49,6</a:t>
                      </a:r>
                    </a:p>
                  </a:txBody>
                  <a:tcPr marL="27432" marR="27432" marT="9144" marB="9144" anchor="ctr">
                    <a:solidFill>
                      <a:srgbClr val="C9DC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49,4</a:t>
                      </a:r>
                    </a:p>
                  </a:txBody>
                  <a:tcPr marL="27432" marR="27432" marT="9144" marB="9144" anchor="ctr">
                    <a:solidFill>
                      <a:srgbClr val="CD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Infraestruturas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46,2</a:t>
                      </a:r>
                    </a:p>
                  </a:txBody>
                  <a:tcPr marL="27432" marR="27432" marT="9144" marB="9144" anchor="ctr">
                    <a:solidFill>
                      <a:srgbClr val="FED99D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43,4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46,2</a:t>
                      </a:r>
                    </a:p>
                  </a:txBody>
                  <a:tcPr marL="27432" marR="27432" marT="9144" marB="9144" anchor="ctr">
                    <a:solidFill>
                      <a:srgbClr val="FED99D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45,5</a:t>
                      </a:r>
                    </a:p>
                  </a:txBody>
                  <a:tcPr marL="27432" marR="27432" marT="9144" marB="9144" anchor="ctr">
                    <a:solidFill>
                      <a:srgbClr val="FDCD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46,9</a:t>
                      </a:r>
                    </a:p>
                  </a:txBody>
                  <a:tcPr marL="27432" marR="27432" marT="9144" marB="9144" anchor="ctr">
                    <a:solidFill>
                      <a:srgbClr val="F9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46,1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47,3</a:t>
                      </a:r>
                    </a:p>
                  </a:txBody>
                  <a:tcPr marL="27432" marR="27432" marT="9144" marB="9144" anchor="ctr">
                    <a:solidFill>
                      <a:srgbClr val="F0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48,2</a:t>
                      </a:r>
                    </a:p>
                  </a:txBody>
                  <a:tcPr marL="27432" marR="27432" marT="9144" marB="9144" anchor="ctr">
                    <a:solidFill>
                      <a:srgbClr val="DC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48,9</a:t>
                      </a:r>
                    </a:p>
                  </a:txBody>
                  <a:tcPr marL="27432" marR="27432" marT="9144" marB="9144" anchor="ctr">
                    <a:solidFill>
                      <a:srgbClr val="CD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49,9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49,9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Mercado Trabalho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54,3</a:t>
                      </a:r>
                    </a:p>
                  </a:txBody>
                  <a:tcPr marL="27432" marR="27432" marT="9144" marB="9144" anchor="ctr">
                    <a:solidFill>
                      <a:srgbClr val="FED89C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54,0</a:t>
                      </a:r>
                    </a:p>
                  </a:txBody>
                  <a:tcPr marL="27432" marR="27432" marT="9144" marB="9144" anchor="ctr">
                    <a:solidFill>
                      <a:srgbClr val="FDCF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53,9</a:t>
                      </a:r>
                    </a:p>
                  </a:txBody>
                  <a:tcPr marL="27432" marR="27432" marT="9144" marB="9144" anchor="ctr">
                    <a:solidFill>
                      <a:srgbClr val="FDCE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53,9</a:t>
                      </a:r>
                    </a:p>
                  </a:txBody>
                  <a:tcPr marL="27432" marR="27432" marT="9144" marB="9144" anchor="ctr">
                    <a:solidFill>
                      <a:srgbClr val="FDCD98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54,0</a:t>
                      </a:r>
                    </a:p>
                  </a:txBody>
                  <a:tcPr marL="27432" marR="27432" marT="9144" marB="9144" anchor="ctr">
                    <a:solidFill>
                      <a:srgbClr val="FDD09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52,5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54,9</a:t>
                      </a:r>
                    </a:p>
                  </a:txBody>
                  <a:tcPr marL="27432" marR="27432" marT="9144" marB="9144" anchor="ctr">
                    <a:solidFill>
                      <a:srgbClr val="F4E1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56,4</a:t>
                      </a:r>
                    </a:p>
                  </a:txBody>
                  <a:tcPr marL="27432" marR="27432" marT="9144" marB="9144" anchor="ctr">
                    <a:solidFill>
                      <a:srgbClr val="C2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56,5</a:t>
                      </a:r>
                    </a:p>
                  </a:txBody>
                  <a:tcPr marL="27432" marR="27432" marT="9144" marB="9144" anchor="ctr">
                    <a:solidFill>
                      <a:srgbClr val="BF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56,2</a:t>
                      </a:r>
                    </a:p>
                  </a:txBody>
                  <a:tcPr marL="27432" marR="27432" marT="9144" marB="9144" anchor="ctr">
                    <a:solidFill>
                      <a:srgbClr val="CADC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Saúde/Alimentar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59,2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58,3</a:t>
                      </a:r>
                    </a:p>
                  </a:txBody>
                  <a:tcPr marL="27432" marR="27432" marT="9144" marB="9144" anchor="ctr">
                    <a:solidFill>
                      <a:srgbClr val="E7DF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57,8</a:t>
                      </a:r>
                    </a:p>
                  </a:txBody>
                  <a:tcPr marL="27432" marR="27432" marT="9144" marB="9144" anchor="ctr">
                    <a:solidFill>
                      <a:srgbClr val="FF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58,2</a:t>
                      </a:r>
                    </a:p>
                  </a:txBody>
                  <a:tcPr marL="27432" marR="27432" marT="9144" marB="9144" anchor="ctr">
                    <a:solidFill>
                      <a:srgbClr val="EE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56,5</a:t>
                      </a:r>
                    </a:p>
                  </a:txBody>
                  <a:tcPr marL="27432" marR="27432" marT="9144" marB="9144" anchor="ctr">
                    <a:solidFill>
                      <a:srgbClr val="F9AA8B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56,4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58,3</a:t>
                      </a:r>
                    </a:p>
                  </a:txBody>
                  <a:tcPr marL="27432" marR="27432" marT="9144" marB="9144" anchor="ctr">
                    <a:solidFill>
                      <a:srgbClr val="E9E0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57,0</a:t>
                      </a:r>
                    </a:p>
                  </a:txBody>
                  <a:tcPr marL="27432" marR="27432" marT="9144" marB="9144" anchor="ctr">
                    <a:solidFill>
                      <a:srgbClr val="FAB79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57,0</a:t>
                      </a:r>
                    </a:p>
                  </a:txBody>
                  <a:tcPr marL="27432" marR="27432" marT="9144" marB="9144" anchor="ctr">
                    <a:solidFill>
                      <a:srgbClr val="FBC09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Diversificação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20,0</a:t>
                      </a:r>
                    </a:p>
                  </a:txBody>
                  <a:tcPr marL="27432" marR="27432" marT="9144" marB="9144" anchor="ctr">
                    <a:solidFill>
                      <a:srgbClr val="FDD19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23,4</a:t>
                      </a:r>
                    </a:p>
                  </a:txBody>
                  <a:tcPr marL="27432" marR="27432" marT="9144" marB="9144" anchor="ctr">
                    <a:solidFill>
                      <a:srgbClr val="D1DD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24,6</a:t>
                      </a:r>
                    </a:p>
                  </a:txBody>
                  <a:tcPr marL="27432" marR="27432" marT="9144" marB="9144" anchor="ctr">
                    <a:solidFill>
                      <a:srgbClr val="BB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23,1</a:t>
                      </a:r>
                    </a:p>
                  </a:txBody>
                  <a:tcPr marL="27432" marR="27432" marT="9144" marB="9144" anchor="ctr">
                    <a:solidFill>
                      <a:srgbClr val="D7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21,8</a:t>
                      </a:r>
                    </a:p>
                  </a:txBody>
                  <a:tcPr marL="27432" marR="27432" marT="9144" marB="9144" anchor="ctr">
                    <a:solidFill>
                      <a:srgbClr val="F0E0A0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17,2</a:t>
                      </a:r>
                    </a:p>
                  </a:txBody>
                  <a:tcPr marL="27432" marR="27432" marT="9144" marB="9144" anchor="ctr">
                    <a:solidFill>
                      <a:srgbClr val="F8A58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24,7</a:t>
                      </a:r>
                    </a:p>
                  </a:txBody>
                  <a:tcPr marL="27432" marR="27432" marT="9144" marB="9144" anchor="ctr">
                    <a:solidFill>
                      <a:srgbClr val="BDDB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23,0</a:t>
                      </a:r>
                    </a:p>
                  </a:txBody>
                  <a:tcPr marL="27432" marR="27432" marT="9144" marB="9144" anchor="ctr">
                    <a:solidFill>
                      <a:srgbClr val="DD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23,2</a:t>
                      </a:r>
                    </a:p>
                  </a:txBody>
                  <a:tcPr marL="27432" marR="27432" marT="9144" marB="9144" anchor="ctr">
                    <a:solidFill>
                      <a:srgbClr val="D7DE9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50" b="0" dirty="0">
                          <a:solidFill>
                            <a:srgbClr val="1A1A1A"/>
                          </a:solidFill>
                          <a:latin typeface="Calibri"/>
                        </a:rPr>
                        <a:t>24,8</a:t>
                      </a:r>
                    </a:p>
                  </a:txBody>
                  <a:tcPr marL="27432" marR="27432" marT="9144" marB="9144" anchor="ctr">
                    <a:solidFill>
                      <a:srgbClr val="B7DA9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IGDA GLOBAL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42,2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42,5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42,2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42,5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39,7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43,6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44,4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44,6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45,7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45,7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35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4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8B045-7877-9856-5267-D5B4FB89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BF138AF5-89A3-DB99-4E14-397998232C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04F2C518-9EDD-FB62-0E78-14BF71B386AB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2C432238-BB6E-28A8-2567-0A8FF97D358F}"/>
              </a:ext>
            </a:extLst>
          </p:cNvPr>
          <p:cNvSpPr txBox="1">
            <a:spLocks/>
          </p:cNvSpPr>
          <p:nvPr/>
        </p:nvSpPr>
        <p:spPr>
          <a:xfrm>
            <a:off x="601105" y="48567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EVOLUÇÃO DO IGDA _2015 – 2025 (2/4)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349BCE17-CF50-62D1-060B-0BC9E2D4C4E3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4D4084D-0B28-1040-2355-431B440B45C6}"/>
              </a:ext>
            </a:extLst>
          </p:cNvPr>
          <p:cNvSpPr/>
          <p:nvPr/>
        </p:nvSpPr>
        <p:spPr>
          <a:xfrm>
            <a:off x="61581" y="1819623"/>
            <a:ext cx="522721" cy="66126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DA7E967-0040-3177-8574-C90B4A8F4747}"/>
              </a:ext>
            </a:extLst>
          </p:cNvPr>
          <p:cNvSpPr/>
          <p:nvPr/>
        </p:nvSpPr>
        <p:spPr>
          <a:xfrm>
            <a:off x="676407" y="3588531"/>
            <a:ext cx="4971104" cy="2620300"/>
          </a:xfrm>
          <a:prstGeom prst="roundRect">
            <a:avLst>
              <a:gd name="adj" fmla="val 497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sz="1400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9726E5F-9301-2F87-9DF3-C5CF42FC5815}"/>
              </a:ext>
            </a:extLst>
          </p:cNvPr>
          <p:cNvGrpSpPr/>
          <p:nvPr/>
        </p:nvGrpSpPr>
        <p:grpSpPr>
          <a:xfrm>
            <a:off x="755544" y="644774"/>
            <a:ext cx="4957818" cy="2462648"/>
            <a:chOff x="1093109" y="648470"/>
            <a:chExt cx="5011344" cy="2462648"/>
          </a:xfrm>
        </p:grpSpPr>
        <p:graphicFrame>
          <p:nvGraphicFramePr>
            <p:cNvPr id="9" name="Gráfico 8">
              <a:extLst>
                <a:ext uri="{FF2B5EF4-FFF2-40B4-BE49-F238E27FC236}">
                  <a16:creationId xmlns:a16="http://schemas.microsoft.com/office/drawing/2014/main" id="{BB6A08AA-5B9E-4766-AF57-746D2E269CD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46510370"/>
                </p:ext>
              </p:extLst>
            </p:nvPr>
          </p:nvGraphicFramePr>
          <p:xfrm>
            <a:off x="1111974" y="923301"/>
            <a:ext cx="4950887" cy="21878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E516689A-AB82-834A-E154-2487176CC163}"/>
                </a:ext>
              </a:extLst>
            </p:cNvPr>
            <p:cNvSpPr/>
            <p:nvPr/>
          </p:nvSpPr>
          <p:spPr>
            <a:xfrm>
              <a:off x="1093109" y="648470"/>
              <a:ext cx="5011344" cy="511268"/>
            </a:xfrm>
            <a:prstGeom prst="roundRect">
              <a:avLst/>
            </a:prstGeom>
            <a:gradFill>
              <a:gsLst>
                <a:gs pos="0">
                  <a:schemeClr val="tx1">
                    <a:lumMod val="89000"/>
                    <a:lumOff val="1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Evolução IGDA </a:t>
              </a:r>
              <a:endParaRPr lang="pt-AO" b="1" dirty="0"/>
            </a:p>
          </p:txBody>
        </p:sp>
      </p:grpSp>
      <p:sp>
        <p:nvSpPr>
          <p:cNvPr id="47" name="object 132">
            <a:extLst>
              <a:ext uri="{FF2B5EF4-FFF2-40B4-BE49-F238E27FC236}">
                <a16:creationId xmlns:a16="http://schemas.microsoft.com/office/drawing/2014/main" id="{25C2E581-7AF9-FB50-5243-ED555BD7DDCE}"/>
              </a:ext>
            </a:extLst>
          </p:cNvPr>
          <p:cNvSpPr txBox="1">
            <a:spLocks/>
          </p:cNvSpPr>
          <p:nvPr/>
        </p:nvSpPr>
        <p:spPr>
          <a:xfrm>
            <a:off x="697312" y="3783672"/>
            <a:ext cx="4971104" cy="2546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No conjunto do período, o IGDA sobe de 42,2 (2015) para 45,7 (2025) — +3,4 p.p. —, permanecendo na banda Médio (40–60). O progresso é puxado por Capital Humano (+8,6), Governança (+5,8), Diversificação (+4,8); recuam Saúde/Alimentar (−2,2) e Inclusão Social (−1,4).</a:t>
            </a:r>
          </a:p>
          <a:p>
            <a:pPr marL="12700" indent="0" algn="just">
              <a:lnSpc>
                <a:spcPct val="100000"/>
              </a:lnSpc>
              <a:spcBef>
                <a:spcPts val="4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O nível continua condicionado por duas dimensões na banda Baixo — Diversificação (24,8) e Governança (33,2) — e sensível a choques macroeconómicos, como em 2016–2017 e, sobretudo, em 2020.</a:t>
            </a:r>
          </a:p>
          <a:p>
            <a:pPr marL="12700" indent="0" algn="just">
              <a:lnSpc>
                <a:spcPct val="100000"/>
              </a:lnSpc>
              <a:spcBef>
                <a:spcPts val="450"/>
              </a:spcBef>
              <a:buNone/>
            </a:pPr>
            <a:r>
              <a:rPr lang="pt-PT" sz="1100" b="1" i="1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Leitura: melhoria lenta mas consistente desde 2020. A Diversificação trava o nível do índice por ser a dimensão de score mais baixo — mas é, ao mesmo tempo, a que mais progride desde 2015. A v8 confirma a leitura da v7 com dados oficiais de 2026 e metas do PDN.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061EAB9-9CA2-FB4E-249D-6A38E0D8994A}"/>
              </a:ext>
            </a:extLst>
          </p:cNvPr>
          <p:cNvGrpSpPr/>
          <p:nvPr/>
        </p:nvGrpSpPr>
        <p:grpSpPr>
          <a:xfrm>
            <a:off x="657072" y="3282115"/>
            <a:ext cx="5011344" cy="531833"/>
            <a:chOff x="6375047" y="588772"/>
            <a:chExt cx="5652402" cy="531833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E77BA423-F3BC-DD42-E35B-E9E99900DA4D}"/>
                </a:ext>
              </a:extLst>
            </p:cNvPr>
            <p:cNvSpPr/>
            <p:nvPr/>
          </p:nvSpPr>
          <p:spPr>
            <a:xfrm>
              <a:off x="6375047" y="588772"/>
              <a:ext cx="5652402" cy="511268"/>
            </a:xfrm>
            <a:prstGeom prst="roundRect">
              <a:avLst/>
            </a:prstGeom>
            <a:gradFill flip="none" rotWithShape="1">
              <a:gsLst>
                <a:gs pos="47000">
                  <a:schemeClr val="accent2">
                    <a:lumMod val="89000"/>
                    <a:alpha val="56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Notas Executivas</a:t>
              </a:r>
              <a:endParaRPr lang="pt-AO" b="1" dirty="0"/>
            </a:p>
          </p:txBody>
        </p:sp>
        <p:pic>
          <p:nvPicPr>
            <p:cNvPr id="5" name="Gráfico 4" descr="Alvo com preenchimento sólido">
              <a:extLst>
                <a:ext uri="{FF2B5EF4-FFF2-40B4-BE49-F238E27FC236}">
                  <a16:creationId xmlns:a16="http://schemas.microsoft.com/office/drawing/2014/main" id="{305B2974-5DF6-ED93-2358-A997213BA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38350" y="664857"/>
              <a:ext cx="664034" cy="455748"/>
            </a:xfrm>
            <a:prstGeom prst="rect">
              <a:avLst/>
            </a:prstGeom>
          </p:spPr>
        </p:pic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65B307A-C8AA-0C2D-132B-ECF9DFE442FE}"/>
              </a:ext>
            </a:extLst>
          </p:cNvPr>
          <p:cNvGrpSpPr/>
          <p:nvPr/>
        </p:nvGrpSpPr>
        <p:grpSpPr>
          <a:xfrm>
            <a:off x="5851247" y="3313189"/>
            <a:ext cx="6200657" cy="2829813"/>
            <a:chOff x="6248907" y="3272380"/>
            <a:chExt cx="5752225" cy="2829813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DA35238-AB75-3FBF-FEE1-EEA61D1CABDA}"/>
                </a:ext>
              </a:extLst>
            </p:cNvPr>
            <p:cNvSpPr/>
            <p:nvPr/>
          </p:nvSpPr>
          <p:spPr>
            <a:xfrm>
              <a:off x="6279852" y="3610950"/>
              <a:ext cx="5721280" cy="2491243"/>
            </a:xfrm>
            <a:prstGeom prst="roundRect">
              <a:avLst>
                <a:gd name="adj" fmla="val 4974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2D6C9377-033E-F2B9-3183-C87313591E1A}"/>
                </a:ext>
              </a:extLst>
            </p:cNvPr>
            <p:cNvGrpSpPr/>
            <p:nvPr/>
          </p:nvGrpSpPr>
          <p:grpSpPr>
            <a:xfrm>
              <a:off x="6248907" y="3272380"/>
              <a:ext cx="5752225" cy="511268"/>
              <a:chOff x="6297807" y="3561419"/>
              <a:chExt cx="5752225" cy="511268"/>
            </a:xfrm>
          </p:grpSpPr>
          <p:sp>
            <p:nvSpPr>
              <p:cNvPr id="50" name="Retângulo: Cantos Arredondados 49">
                <a:extLst>
                  <a:ext uri="{FF2B5EF4-FFF2-40B4-BE49-F238E27FC236}">
                    <a16:creationId xmlns:a16="http://schemas.microsoft.com/office/drawing/2014/main" id="{5A7635F8-E88C-2B19-C169-38F2ABBF4C2F}"/>
                  </a:ext>
                </a:extLst>
              </p:cNvPr>
              <p:cNvSpPr/>
              <p:nvPr/>
            </p:nvSpPr>
            <p:spPr>
              <a:xfrm>
                <a:off x="6297807" y="3561419"/>
                <a:ext cx="5752225" cy="511268"/>
              </a:xfrm>
              <a:prstGeom prst="roundRect">
                <a:avLst/>
              </a:prstGeom>
              <a:gradFill flip="none" rotWithShape="1">
                <a:gsLst>
                  <a:gs pos="47000">
                    <a:schemeClr val="accent2">
                      <a:lumMod val="89000"/>
                      <a:alpha val="56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b="1" dirty="0"/>
                  <a:t>Recomendações  </a:t>
                </a:r>
                <a:endParaRPr lang="pt-AO" b="1" dirty="0"/>
              </a:p>
            </p:txBody>
          </p:sp>
          <p:pic>
            <p:nvPicPr>
              <p:cNvPr id="8" name="Gráfico 7" descr="Blogue destaque">
                <a:extLst>
                  <a:ext uri="{FF2B5EF4-FFF2-40B4-BE49-F238E27FC236}">
                    <a16:creationId xmlns:a16="http://schemas.microsoft.com/office/drawing/2014/main" id="{3CF0809C-5994-6401-2BDC-20C372F93E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95665" y="3617859"/>
                <a:ext cx="804965" cy="380241"/>
              </a:xfrm>
              <a:prstGeom prst="rect">
                <a:avLst/>
              </a:prstGeom>
            </p:spPr>
          </p:pic>
        </p:grp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B463936-FF0A-963A-D0DA-6E78A46C6332}"/>
              </a:ext>
            </a:extLst>
          </p:cNvPr>
          <p:cNvGrpSpPr/>
          <p:nvPr/>
        </p:nvGrpSpPr>
        <p:grpSpPr>
          <a:xfrm>
            <a:off x="5903268" y="644774"/>
            <a:ext cx="6200656" cy="2442603"/>
            <a:chOff x="6299091" y="664589"/>
            <a:chExt cx="5558483" cy="2442603"/>
          </a:xfrm>
        </p:grpSpPr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4C2A0437-0943-5A9E-1587-D2283026BA3B}"/>
                </a:ext>
              </a:extLst>
            </p:cNvPr>
            <p:cNvSpPr/>
            <p:nvPr/>
          </p:nvSpPr>
          <p:spPr>
            <a:xfrm>
              <a:off x="6330307" y="1023936"/>
              <a:ext cx="5515004" cy="2083256"/>
            </a:xfrm>
            <a:prstGeom prst="roundRect">
              <a:avLst>
                <a:gd name="adj" fmla="val 4974"/>
              </a:avLst>
            </a:prstGeom>
            <a:solidFill>
              <a:schemeClr val="bg1">
                <a:lumMod val="95000"/>
                <a:alpha val="0"/>
              </a:schemeClr>
            </a:solidFill>
            <a:ln w="12700">
              <a:solidFill>
                <a:schemeClr val="bg2"/>
              </a:solidFill>
            </a:ln>
            <a:effectLst>
              <a:outerShdw blurRad="190500" dist="635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lIns="137160" tIns="329184" rIns="137160" bIns="45720"/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2015–2019 — estagnação em torno de 42,4 pontos: ganhos de governança anulados pela deterioração macroeconómica.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2020 — choque COVID-19 / petróleo: −2,8 p.p., para 39,7 — único ano na banda Baixo.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2021–2024 — recuperação sustentada: +6,0 p.p. face a 2020, com máximos da série.</a:t>
              </a:r>
            </a:p>
            <a:p>
              <a:pPr marL="12700" indent="0">
                <a:lnSpc>
                  <a:spcPct val="100000"/>
                </a:lnSpc>
                <a:spcBef>
                  <a:spcPts val="450"/>
                </a:spcBef>
                <a:buNone/>
              </a:pPr>
              <a:r>
                <a:rPr lang="pt-PT" sz="1050" b="1" kern="0" dirty="0">
                  <a:solidFill>
                    <a:srgbClr val="B02A0C"/>
                  </a:solidFill>
                  <a:latin typeface="Arial Narrow" panose="020B0606020202030204" pitchFamily="34" charset="0"/>
                  <a:cs typeface="DIN2014-DemiBold"/>
                </a:rPr>
                <a:t>2025 — 45,7 pontos: estável (−0,0 p.p.); valor provisório (v8: dados INE/FMI de 2026).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CC4C21B-79BB-9C1A-F6DE-1BD90DEFBAA7}"/>
                </a:ext>
              </a:extLst>
            </p:cNvPr>
            <p:cNvSpPr/>
            <p:nvPr/>
          </p:nvSpPr>
          <p:spPr>
            <a:xfrm>
              <a:off x="6299091" y="664589"/>
              <a:ext cx="5558483" cy="511268"/>
            </a:xfrm>
            <a:prstGeom prst="roundRect">
              <a:avLst/>
            </a:prstGeom>
            <a:gradFill>
              <a:gsLst>
                <a:gs pos="0">
                  <a:schemeClr val="tx1">
                    <a:lumMod val="89000"/>
                    <a:lumOff val="1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/>
                <a:t>Comportamento do Índice  </a:t>
              </a:r>
              <a:endParaRPr lang="pt-AO" b="1" dirty="0"/>
            </a:p>
          </p:txBody>
        </p:sp>
      </p:grpSp>
      <p:sp>
        <p:nvSpPr>
          <p:cNvPr id="25" name="Retângulo 24">
            <a:extLst>
              <a:ext uri="{FF2B5EF4-FFF2-40B4-BE49-F238E27FC236}">
                <a16:creationId xmlns:a16="http://schemas.microsoft.com/office/drawing/2014/main" id="{0D7D7E41-E937-3715-B74B-52FB14D2BA34}"/>
              </a:ext>
            </a:extLst>
          </p:cNvPr>
          <p:cNvSpPr/>
          <p:nvPr/>
        </p:nvSpPr>
        <p:spPr>
          <a:xfrm>
            <a:off x="6141766" y="3922293"/>
            <a:ext cx="5554477" cy="1950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Reposicionar o BDA</a:t>
            </a:r>
            <a:r>
              <a:rPr lang="pt-PT" sz="1100" dirty="0">
                <a:solidFill>
                  <a:sysClr val="windowText" lastClr="000000"/>
                </a:solidFill>
              </a:rPr>
              <a:t> como Banco orientado a resultados mensuráveis no IGDA.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Financiar projectos</a:t>
            </a:r>
            <a:r>
              <a:rPr lang="pt-PT" sz="1100" dirty="0">
                <a:solidFill>
                  <a:sysClr val="windowText" lastClr="000000"/>
                </a:solidFill>
              </a:rPr>
              <a:t> que gerem emprego formal e aumentem a qualificação técnica.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Focar menos em volume</a:t>
            </a:r>
            <a:r>
              <a:rPr lang="pt-PT" sz="1100" dirty="0">
                <a:solidFill>
                  <a:sysClr val="windowText" lastClr="000000"/>
                </a:solidFill>
              </a:rPr>
              <a:t> e mais na taxa de sucesso dos projectos.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Priorizar as dimensões na banda Baixo</a:t>
            </a:r>
            <a:r>
              <a:rPr lang="pt-PT" sz="1100" dirty="0">
                <a:solidFill>
                  <a:sysClr val="windowText" lastClr="000000"/>
                </a:solidFill>
              </a:rPr>
              <a:t>: diversificação produtiva e crédito ao sector privado.</a:t>
            </a:r>
          </a:p>
          <a:p>
            <a:pPr marL="228600" indent="-228600" algn="l">
              <a:spcBef>
                <a:spcPts val="500"/>
              </a:spcBef>
              <a:buAutoNum type="alphaLcParenR"/>
            </a:pPr>
            <a:r>
              <a:rPr lang="pt-PT" sz="1100" b="1" dirty="0">
                <a:solidFill>
                  <a:sysClr val="windowText" lastClr="000000"/>
                </a:solidFill>
              </a:rPr>
              <a:t>Monitorizar o IGDA anualmente</a:t>
            </a:r>
            <a:r>
              <a:rPr lang="pt-PT" sz="1100" dirty="0">
                <a:solidFill>
                  <a:sysClr val="windowText" lastClr="000000"/>
                </a:solidFill>
              </a:rPr>
              <a:t> e rever 2025 quando existirem dados definitivos.</a:t>
            </a:r>
          </a:p>
        </p:txBody>
      </p:sp>
      <p:sp>
        <p:nvSpPr>
          <p:cNvPr id="2" name="object 258">
            <a:extLst>
              <a:ext uri="{FF2B5EF4-FFF2-40B4-BE49-F238E27FC236}">
                <a16:creationId xmlns:a16="http://schemas.microsoft.com/office/drawing/2014/main" id="{740F5CAC-D0C2-C5C3-9FC9-306EE8595E5C}"/>
              </a:ext>
            </a:extLst>
          </p:cNvPr>
          <p:cNvSpPr/>
          <p:nvPr/>
        </p:nvSpPr>
        <p:spPr>
          <a:xfrm flipH="1">
            <a:off x="397334" y="23496"/>
            <a:ext cx="59866" cy="532851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Gráfico 16" descr="Filtrar com preenchimento sólido">
            <a:extLst>
              <a:ext uri="{FF2B5EF4-FFF2-40B4-BE49-F238E27FC236}">
                <a16:creationId xmlns:a16="http://schemas.microsoft.com/office/drawing/2014/main" id="{5CDF3FED-E5D3-FBD0-B33A-FB3AAA45F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7" y="1924124"/>
            <a:ext cx="469608" cy="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7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LEITURA RECENTE _2023 – 2025 (3/4)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Entre 2023 e 2025 o IGDA sobe de 44,6 para 45,7 pontos (+1,1 p.p.), o máximo da série. O ganho concentra-se em 2024 (+1,1 p.p.); em 2025 o índice fica estável (−0,0 p.p.).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2025 é provisório: 21 dos 41 indicadores têm observação nesse ano (14 até 2024 e 6 até 2023); os restantes entram por carry-forward.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 que mudou entre 2023 e 2025 (variação do subíndice, em p.p.)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C00000"/>
                </a:solidFill>
              </a:rPr>
              <a:t>Dimensões em recuo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Segurança Alimentar e Saúde −1,2 — cobertura vacinal (−10,0)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Governança e Estado de Direito −0,4 — estabilidade política (−5,2)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Mercado de Trabalho −0,2 — desemprego juvenil (−0,8)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pt-PT" sz="1100" b="1" i="1" kern="0" dirty="0"/>
              <a:t>Leitura: a recuperação pós-2020 mantém-se, mas o ritmo abranda em 2025. A leitura INE do emprego (folha 12_Emprego_INE) mostra melhoria em 2025 que as séries OIT ainda não captam.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1E7B34"/>
                </a:solidFill>
              </a:rPr>
              <a:t>Dimensões em melhoria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Inclusão Social e Protecção +3,9 — mulheres no parlamento (+9,1)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Estabilidade Macroeconómica +2,7 — dívida pública (+16,3)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Diversificação Produtiva e Setor Privado +1,5 — pib não petrolífero (+10,8)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Infraestruturas e Serviços +1,0 — tráfego portuário (teu) (+3,1)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00" kern="0" dirty="0"/>
              <a:t>•  Capital Humano +0,4 — esperança de vida (+0,9)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ESCALA COMUM DE EVOLUÇÃO _2015 = 100 (4/4)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200" dirty="0">
                <a:solidFill>
                  <a:srgbClr val="1A1A1A"/>
                </a:solidFill>
                <a:latin typeface="Calibri"/>
              </a:rPr>
              <a:t>Cada dimensão é reexpressa face ao seu próprio valor de 2015. Como todas partem de 100, as trajectórias tornam-se directamente comparáveis — o que os níveis, com fronteiras de normalização distintas, não permitem.</a:t>
            </a:r>
          </a:p>
          <a:p>
            <a:pPr algn="just"/>
            <a:endParaRPr lang="pt-PT" sz="600"/>
          </a:p>
          <a:p>
            <a:pPr algn="just"/>
            <a:r>
              <a:rPr lang="pt-PT" sz="1200" b="1" dirty="0">
                <a:solidFill>
                  <a:srgbClr val="C0504D"/>
                </a:solidFill>
                <a:latin typeface="Calibri"/>
              </a:rPr>
              <a:t>A leitura inverte-se: a Diversificação, a dimensão de nível mais baixo (24,8), é a que mais progrediu desde 2015 (+24,0%). O Mercado de Trabalho, o nível mais alto, é dos que menos avança (+3,5%). Recuam a Inclusão Social e a Saúde/Segurança Alimentar.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1" name="Titulo Escala"/>
          <p:cNvSpPr/>
          <p:nvPr/>
        </p:nvSpPr>
        <p:spPr>
          <a:xfrm>
            <a:off x="1281532" y="2953512"/>
            <a:ext cx="962863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pt-PT" sz="1100" b="1" dirty="0">
                <a:solidFill>
                  <a:srgbClr val="FFFFFF"/>
                </a:solidFill>
                <a:latin typeface="Calibri"/>
              </a:rPr>
              <a:t>ÍNDICE DE EVOLUÇÃO DOS SUBÍNDICES  ·  2015 = 100  (ordenado por progresso acumulado)</a:t>
            </a:r>
          </a:p>
        </p:txBody>
      </p:sp>
      <p:graphicFrame>
        <p:nvGraphicFramePr>
          <p:cNvPr id="920" name="Tabela Escala Comum"/>
          <p:cNvGraphicFramePr>
            <a:graphicFrameLocks noGrp="1"/>
          </p:cNvGraphicFramePr>
          <p:nvPr/>
        </p:nvGraphicFramePr>
        <p:xfrm>
          <a:off x="1281532" y="3246120"/>
          <a:ext cx="9628632" cy="2171700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178308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100584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pt-PT" sz="950" b="1" dirty="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Acumulado</a:t>
                      </a:r>
                    </a:p>
                  </a:txBody>
                  <a:tcPr marL="27432" marR="27432" marT="9144" marB="9144" anchor="ctr">
                    <a:solidFill>
                      <a:srgbClr val="1A1A1A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Diversificação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+24,0%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Governança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27432" marR="27432" marT="9144" marB="9144" anchor="ctr">
                    <a:solidFill>
                      <a:srgbClr val="A9D18E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+21,1%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Capital Humano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27432" marR="27432" marT="9144" marB="9144" anchor="ctr">
                    <a:solidFill>
                      <a:srgbClr val="C9E2B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+17,0%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Infraestruturas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+8,0%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Mercado Trabalho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27432" marR="27432" marT="9144" marB="9144" anchor="ctr">
                    <a:solidFill>
                      <a:srgbClr val="E2EFD9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+3,5%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Macroeconomia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+1,2%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Inclusão Social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27432" marR="27432" marT="9144" marB="9144" anchor="ctr">
                    <a:solidFill>
                      <a:srgbClr val="F8B19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C62828"/>
                          </a:solidFill>
                          <a:latin typeface="Calibri"/>
                        </a:rPr>
                        <a:t>−2,7%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Saúde/Alimentar</a:t>
                      </a:r>
                    </a:p>
                  </a:txBody>
                  <a:tcPr marL="27432" marR="27432" marT="9144" marB="9144" anchor="ctr">
                    <a:solidFill>
                      <a:srgbClr val="F7F7F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27432" marR="27432" marT="9144" marB="9144" anchor="ctr">
                    <a:solidFill>
                      <a:srgbClr val="F2F2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27432" marR="27432" marT="9144" marB="9144" anchor="ctr">
                    <a:solidFill>
                      <a:srgbClr val="FCE4D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C62828"/>
                          </a:solidFill>
                          <a:latin typeface="Calibri"/>
                        </a:rPr>
                        <a:t>−3,8%</a:t>
                      </a:r>
                    </a:p>
                  </a:txBody>
                  <a:tcPr marL="27432" marR="27432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lang="pt-PT" sz="950" b="1" dirty="0">
                          <a:solidFill>
                            <a:srgbClr val="1A1A1A"/>
                          </a:solidFill>
                          <a:latin typeface="Calibri"/>
                        </a:rPr>
                        <a:t>IGDA GLOBAL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1A1A1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dirty="0">
                          <a:solidFill>
                            <a:srgbClr val="2E7D32"/>
                          </a:solidFill>
                          <a:latin typeface="Calibri"/>
                        </a:rPr>
                        <a:t>+8,1%</a:t>
                      </a:r>
                    </a:p>
                  </a:txBody>
                  <a:tcPr marL="27432" marR="27432" marT="9144" marB="9144" anchor="ctr">
                    <a:solidFill>
                      <a:srgbClr val="E8EEF2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22" name="Nota Escala"/>
          <p:cNvSpPr txBox="1"/>
          <p:nvPr/>
        </p:nvSpPr>
        <p:spPr>
          <a:xfrm>
            <a:off x="1281532" y="5564124"/>
            <a:ext cx="9628632" cy="365760"/>
          </a:xfrm>
          <a:prstGeom prst="rect">
            <a:avLst/>
          </a:prstGeom>
          <a:noFill/>
        </p:spPr>
        <p:txBody>
          <a:bodyPr lIns="0" rIns="0" tIns="0" bIns="0" wrap="square"/>
          <a:lstStyle/>
          <a:p>
            <a:pPr algn="l"/>
            <a:r>
              <a:rPr lang="pt-PT" sz="800" i="1" dirty="0">
                <a:solidFill>
                  <a:srgbClr val="595959"/>
                </a:solidFill>
                <a:latin typeface="Calibri"/>
              </a:rPr>
              <a:t>Esta escala compara ritmos de progresso, não patamares de desenvolvimento: 124 na Diversificação e 104 no Mercado de Trabalho significam que a primeira cresceu mais desde 2015, não que esteja num nível superior. Fonte: construtor IGDA-BDA v8, folha 11_Escala_Comum.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225C0-FAD3-B8FF-E8FD-879F214A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150BD622-08D1-9F4D-D7DA-DE78EC029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D1E6A29D-4FAC-41AA-D317-B9C8C554AEE7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9B37D51-722B-7560-A0F8-5F4544180FA8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(1/4)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355F439-11D6-C9AB-1F65-86B9E6FBB2BF}"/>
              </a:ext>
            </a:extLst>
          </p:cNvPr>
          <p:cNvSpPr/>
          <p:nvPr/>
        </p:nvSpPr>
        <p:spPr>
          <a:xfrm>
            <a:off x="22475" y="2756661"/>
            <a:ext cx="660481" cy="72614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CFDB0551-A7CC-B893-8BDB-2E408511F3E1}"/>
              </a:ext>
            </a:extLst>
          </p:cNvPr>
          <p:cNvGrpSpPr/>
          <p:nvPr/>
        </p:nvGrpSpPr>
        <p:grpSpPr>
          <a:xfrm>
            <a:off x="625788" y="758226"/>
            <a:ext cx="5944045" cy="2256977"/>
            <a:chOff x="5364020" y="853177"/>
            <a:chExt cx="4291917" cy="2256977"/>
          </a:xfrm>
        </p:grpSpPr>
        <p:graphicFrame>
          <p:nvGraphicFramePr>
            <p:cNvPr id="16" name="Gráfico 15">
              <a:extLst>
                <a:ext uri="{FF2B5EF4-FFF2-40B4-BE49-F238E27FC236}">
                  <a16:creationId xmlns:a16="http://schemas.microsoft.com/office/drawing/2014/main" id="{99F899A6-A6BB-40EA-647E-C412FA852B2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42968578"/>
                </p:ext>
              </p:extLst>
            </p:nvPr>
          </p:nvGraphicFramePr>
          <p:xfrm>
            <a:off x="5364020" y="1342566"/>
            <a:ext cx="4291917" cy="17675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96A72BF-71B6-A600-F750-DB5F1E8AAFEA}"/>
                </a:ext>
              </a:extLst>
            </p:cNvPr>
            <p:cNvSpPr/>
            <p:nvPr/>
          </p:nvSpPr>
          <p:spPr>
            <a:xfrm>
              <a:off x="5579353" y="853177"/>
              <a:ext cx="380999" cy="32574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/>
                <a:t>1</a:t>
              </a:r>
              <a:endParaRPr lang="pt-AO" dirty="0"/>
            </a:p>
          </p:txBody>
        </p:sp>
      </p:grp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B9100065-9845-D135-F81F-9AF405202399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EAF9EEAE-F6B3-9316-8115-56E356ED4CA1}"/>
              </a:ext>
            </a:extLst>
          </p:cNvPr>
          <p:cNvGrpSpPr/>
          <p:nvPr/>
        </p:nvGrpSpPr>
        <p:grpSpPr>
          <a:xfrm>
            <a:off x="6835374" y="643127"/>
            <a:ext cx="5102041" cy="2429526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4FB83FE5-0F61-68BA-BCF5-020B30D3D0B4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28624586-C6E9-6882-398B-BD38A35A5A1C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D622B217-525A-E475-720E-E37B2591D15E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464688BD-92DE-BB17-CCED-1B4714FBE28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DAFC1928-0CF8-93D0-D24A-F3FBB46BA0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783AF773-8DF3-626A-1E73-F7B8D5BD6E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DEDFA320-FA03-3A5C-B179-F810383BE35A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Governança e Estado de Direito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160FBC43-51A4-DE5E-BCC3-4596350E06DF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Percepção da Corrupção  +17,0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Qualidade Regulatória  +6,3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Eficiência do Governo  +3,1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Estado de Direito  +2,8</a:t>
            </a:r>
          </a:p>
        </p:txBody>
      </p:sp>
      <p:graphicFrame>
        <p:nvGraphicFramePr>
          <p:cNvPr id="63" name="Gráfico 62">
            <a:extLst>
              <a:ext uri="{FF2B5EF4-FFF2-40B4-BE49-F238E27FC236}">
                <a16:creationId xmlns:a16="http://schemas.microsoft.com/office/drawing/2014/main" id="{AEBBFE0B-1C6B-4766-8A5E-AEEC857F5C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1006508"/>
              </p:ext>
            </p:extLst>
          </p:nvPr>
        </p:nvGraphicFramePr>
        <p:xfrm>
          <a:off x="857027" y="3619859"/>
          <a:ext cx="5264158" cy="2044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B8025C02-795C-AE41-16A5-D4F70C8A3403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6FD265E5-2F6C-EB57-8190-95BDFB67589E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6A56D224-9F45-7548-1F94-B73E277EFA1B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391DD5A9-58D6-977B-FB73-F5095DD31371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D3745039-6196-0FE6-708B-1A81CF48AFC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451474AE-99EC-99D9-998F-577CA616F5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03AB46EE-FC79-B4A5-D85D-B83BE513B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89FAA897-A5FC-9406-FAE0-AE5231B543B3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Estabilidade Política  −0,3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(recuo de −5,2 desde 2023)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C1D38A40-CC61-52F8-6002-F9651B3818A8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PIB não petrolífero  +35,9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Crescimento do PIB  +9,5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DFD19272-08E6-6869-0C68-8368F942FB23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Inflação  −21,6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Reservas Internacionais  −9,7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Saldo Orçamental  −6,0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PIB per capita  −3,5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Dívida Pública  −0,6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2015–2025; saldo e dívida com séries FMI WEO Abr-2026)</a:t>
            </a:r>
          </a:p>
        </p:txBody>
      </p:sp>
      <p:sp>
        <p:nvSpPr>
          <p:cNvPr id="289" name="object 258">
            <a:extLst>
              <a:ext uri="{FF2B5EF4-FFF2-40B4-BE49-F238E27FC236}">
                <a16:creationId xmlns:a16="http://schemas.microsoft.com/office/drawing/2014/main" id="{EBB1E768-4EF8-F1D0-819C-4714725FA9F7}"/>
              </a:ext>
            </a:extLst>
          </p:cNvPr>
          <p:cNvSpPr/>
          <p:nvPr/>
        </p:nvSpPr>
        <p:spPr>
          <a:xfrm flipH="1">
            <a:off x="305896" y="23496"/>
            <a:ext cx="45719" cy="446547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1" name="Gráfico 290" descr="Gráfico Gantt com preenchimento sólido">
            <a:extLst>
              <a:ext uri="{FF2B5EF4-FFF2-40B4-BE49-F238E27FC236}">
                <a16:creationId xmlns:a16="http://schemas.microsoft.com/office/drawing/2014/main" id="{B89060F2-CF21-9A01-8039-278284368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2" y="2840329"/>
            <a:ext cx="548346" cy="46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6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53C20-E682-2E41-96AA-A65041F8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E6CDB7A2-17E2-AF2D-59F3-955F9431E0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CAE568E5-12DE-E810-3664-A8DAA69B760F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AE512276-0B98-7DFE-8D00-1C2A979699A4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CDE175B-5294-BC5C-AF80-53BB4787DD24}"/>
              </a:ext>
            </a:extLst>
          </p:cNvPr>
          <p:cNvSpPr/>
          <p:nvPr/>
        </p:nvSpPr>
        <p:spPr>
          <a:xfrm>
            <a:off x="19677" y="703710"/>
            <a:ext cx="645203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CE39232-463B-8F03-DB0D-A50839E3AF2B}"/>
              </a:ext>
            </a:extLst>
          </p:cNvPr>
          <p:cNvSpPr/>
          <p:nvPr/>
        </p:nvSpPr>
        <p:spPr>
          <a:xfrm>
            <a:off x="938137" y="742186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pt-AO" dirty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73A73797-B253-4855-330B-EEFCDBB7501A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FA67B600-3F11-4DC9-0065-E1BCB847CB04}"/>
              </a:ext>
            </a:extLst>
          </p:cNvPr>
          <p:cNvGrpSpPr/>
          <p:nvPr/>
        </p:nvGrpSpPr>
        <p:grpSpPr>
          <a:xfrm>
            <a:off x="6835374" y="508904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0E0E0775-69CF-E5B9-DF9F-A5768581774A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139222AC-3383-49B0-ECED-C45315059CCE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DD4BB4A6-1060-739B-3D56-A97E6861CAA1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44C1F4BB-87EB-4DC2-19E0-210E175B91E2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DCE2AA11-A0AE-B2D2-4486-E864D78979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4D13C385-83FC-65F1-CED9-E9BAAC187C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5B14F1FB-7980-7114-957A-69D624590E58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Capital Humano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50746159-E871-D236-29A7-DB42BC5911A9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Escolaridade obrigatória  +30,8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Esperança de vida  +8,8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infantil  +4,5</a:t>
            </a:r>
          </a:p>
        </p:txBody>
      </p: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F9FA4E0A-1BE9-AB1E-6BEB-3BC913C20DAA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A8BBBE92-02A9-712D-F0E4-E50743C2C799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DE29B900-8576-7F95-0AFB-EDEBACF77B47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A5FB06E0-9086-BA40-0D89-CF941FCDEDB0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30D0B852-3E40-81BE-73CA-4B97E420010B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08329B75-49C5-C079-BDEA-095F9BCACE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C7022802-516F-8BF1-FBEA-4AC1ED6F92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8A1376A0-553C-955C-562D-7B0442559A8B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Despesa pública em educação  −9,7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(único indicador da dimensão em queda; dotação OGE 2026 = 1,7% do PIB)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76E1EEAD-0D39-F253-18AF-9D7421093049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Mulheres no parlamento  +3,8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Paridade de género (WEF)  +3,1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BA6C9925-45AA-7090-78D6-AFDDFE13B3F7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RNB per capita (USD)  −11,0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(quebra cambial de 2015–2020 ainda não recuperada)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515822E-4849-459B-B3B1-0909E354B1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912443"/>
              </p:ext>
            </p:extLst>
          </p:nvPr>
        </p:nvGraphicFramePr>
        <p:xfrm>
          <a:off x="693676" y="1067932"/>
          <a:ext cx="5081296" cy="1920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E0479E37-18B4-75B9-79C3-22C94C9E39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8654553"/>
              </p:ext>
            </p:extLst>
          </p:nvPr>
        </p:nvGraphicFramePr>
        <p:xfrm>
          <a:off x="789432" y="3907954"/>
          <a:ext cx="4800600" cy="1963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01AEE90-1FAC-985B-BEAA-0FB489437565}"/>
              </a:ext>
            </a:extLst>
          </p:cNvPr>
          <p:cNvSpPr/>
          <p:nvPr/>
        </p:nvSpPr>
        <p:spPr>
          <a:xfrm>
            <a:off x="838200" y="3355951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4</a:t>
            </a:r>
            <a:endParaRPr lang="pt-AO" dirty="0"/>
          </a:p>
        </p:txBody>
      </p:sp>
      <p:sp>
        <p:nvSpPr>
          <p:cNvPr id="9" name="object 132">
            <a:extLst>
              <a:ext uri="{FF2B5EF4-FFF2-40B4-BE49-F238E27FC236}">
                <a16:creationId xmlns:a16="http://schemas.microsoft.com/office/drawing/2014/main" id="{D793C0A8-AD00-49E8-2D53-22EDBF31489C}"/>
              </a:ext>
            </a:extLst>
          </p:cNvPr>
          <p:cNvSpPr txBox="1">
            <a:spLocks/>
          </p:cNvSpPr>
          <p:nvPr/>
        </p:nvSpPr>
        <p:spPr>
          <a:xfrm>
            <a:off x="1480129" y="3403518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Inclusão Social e </a:t>
            </a:r>
            <a:r>
              <a:rPr lang="pt-PT" sz="1600" b="1" kern="0" dirty="0" err="1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Protecção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0" name="object 258">
            <a:extLst>
              <a:ext uri="{FF2B5EF4-FFF2-40B4-BE49-F238E27FC236}">
                <a16:creationId xmlns:a16="http://schemas.microsoft.com/office/drawing/2014/main" id="{1A014CF3-7800-54B1-1503-20278B51B5E5}"/>
              </a:ext>
            </a:extLst>
          </p:cNvPr>
          <p:cNvSpPr/>
          <p:nvPr/>
        </p:nvSpPr>
        <p:spPr>
          <a:xfrm>
            <a:off x="351615" y="23496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32">
            <a:extLst>
              <a:ext uri="{FF2B5EF4-FFF2-40B4-BE49-F238E27FC236}">
                <a16:creationId xmlns:a16="http://schemas.microsoft.com/office/drawing/2014/main" id="{7E82AF50-88FB-647B-AC17-0DA1884295E5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(2/4)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pic>
        <p:nvPicPr>
          <p:cNvPr id="13" name="Gráfico 12" descr="Investigação com preenchimento sólido">
            <a:extLst>
              <a:ext uri="{FF2B5EF4-FFF2-40B4-BE49-F238E27FC236}">
                <a16:creationId xmlns:a16="http://schemas.microsoft.com/office/drawing/2014/main" id="{E4F5A64B-4F1B-7C5F-E266-C9F2743A2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313629">
            <a:off x="69947" y="784019"/>
            <a:ext cx="506350" cy="50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6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C2ED6-BB5A-CB05-497C-A83BBFF1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D5177E78-8E34-9CDA-3A87-8D341F542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EAFAB63E-5FBB-6422-47D2-CE9C537D6A6F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3E053393-F410-5F78-7BE0-157A9E835848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8073665-4448-2BBE-DDE3-89ED329B25CD}"/>
              </a:ext>
            </a:extLst>
          </p:cNvPr>
          <p:cNvSpPr/>
          <p:nvPr/>
        </p:nvSpPr>
        <p:spPr>
          <a:xfrm>
            <a:off x="23331" y="2693079"/>
            <a:ext cx="679636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E1D07D4-8F14-101A-10BE-57A6F839773C}"/>
              </a:ext>
            </a:extLst>
          </p:cNvPr>
          <p:cNvSpPr/>
          <p:nvPr/>
        </p:nvSpPr>
        <p:spPr>
          <a:xfrm>
            <a:off x="938137" y="742186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  <a:endParaRPr lang="pt-AO" dirty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EAAF7570-122F-19BA-E279-4ADC2AC46109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19970A70-AEAE-1AF9-E30C-444779C93A4E}"/>
              </a:ext>
            </a:extLst>
          </p:cNvPr>
          <p:cNvGrpSpPr/>
          <p:nvPr/>
        </p:nvGrpSpPr>
        <p:grpSpPr>
          <a:xfrm>
            <a:off x="6835374" y="508904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8785A3F0-FD80-A855-6DE3-60C206C1DB08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12979AD2-B7EE-4049-3E4D-82BD9D22D00B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471CB861-8B9D-7C44-C263-4F0D6B8D682C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839C2174-F4E4-D394-7A6F-B00B3AB3A12A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E69A175B-3F7B-5BF4-6D15-7FCB6D98E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E7F3A7C1-398E-B912-B36D-255E916AE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4C1DDD8A-0CC1-8B77-3EB3-0AFB24691E3C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Infraestruturas e Serviços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5F8F6BD6-733E-FF30-13E3-86435F23338F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Acesso a água potável  +9,3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Electrificação  +9,1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Densidade rodoviária  +4,0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Energia limpa para cozinhar  +3,2</a:t>
            </a:r>
          </a:p>
        </p:txBody>
      </p: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7E11FD6C-4432-0AE8-1B78-15C67724ED96}"/>
              </a:ext>
            </a:extLst>
          </p:cNvPr>
          <p:cNvGrpSpPr/>
          <p:nvPr/>
        </p:nvGrpSpPr>
        <p:grpSpPr>
          <a:xfrm>
            <a:off x="6807312" y="3441224"/>
            <a:ext cx="5102041" cy="2563749"/>
            <a:chOff x="6835374" y="508904"/>
            <a:chExt cx="5102041" cy="2563749"/>
          </a:xfrm>
        </p:grpSpPr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8CD652AC-FF6F-2B64-7902-857ACE8D898C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275" name="object 132">
              <a:extLst>
                <a:ext uri="{FF2B5EF4-FFF2-40B4-BE49-F238E27FC236}">
                  <a16:creationId xmlns:a16="http://schemas.microsoft.com/office/drawing/2014/main" id="{7EF86F83-A979-223A-D52F-9D054944CF75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280" name="Conexão reta 279">
              <a:extLst>
                <a:ext uri="{FF2B5EF4-FFF2-40B4-BE49-F238E27FC236}">
                  <a16:creationId xmlns:a16="http://schemas.microsoft.com/office/drawing/2014/main" id="{183B6EFF-3553-5709-8B8A-2AB0A4CDC758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bject 132">
              <a:extLst>
                <a:ext uri="{FF2B5EF4-FFF2-40B4-BE49-F238E27FC236}">
                  <a16:creationId xmlns:a16="http://schemas.microsoft.com/office/drawing/2014/main" id="{26D19C84-3F1F-F886-38CF-83E56AA24325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82" name="Gráfico 281" descr="Gráfico de barras com tendência descendente destaque">
              <a:extLst>
                <a:ext uri="{FF2B5EF4-FFF2-40B4-BE49-F238E27FC236}">
                  <a16:creationId xmlns:a16="http://schemas.microsoft.com/office/drawing/2014/main" id="{8C60B075-5211-51E8-B92A-F1881AC6E5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83" name="Gráfico 282" descr="Gráfico de barras com tendência ascendente destaque">
              <a:extLst>
                <a:ext uri="{FF2B5EF4-FFF2-40B4-BE49-F238E27FC236}">
                  <a16:creationId xmlns:a16="http://schemas.microsoft.com/office/drawing/2014/main" id="{F9A27744-9A8A-3B0A-F0BA-C49393FDF4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286" name="object 132">
            <a:extLst>
              <a:ext uri="{FF2B5EF4-FFF2-40B4-BE49-F238E27FC236}">
                <a16:creationId xmlns:a16="http://schemas.microsoft.com/office/drawing/2014/main" id="{4D280D92-E8F4-9484-A340-2541F2FA1C7E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Tráfego portuário (TEU)  −7,0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(recupera +3,1 desde 2023)</a:t>
            </a:r>
          </a:p>
        </p:txBody>
      </p:sp>
      <p:sp>
        <p:nvSpPr>
          <p:cNvPr id="287" name="object 132">
            <a:extLst>
              <a:ext uri="{FF2B5EF4-FFF2-40B4-BE49-F238E27FC236}">
                <a16:creationId xmlns:a16="http://schemas.microsoft.com/office/drawing/2014/main" id="{D0E57678-8F5B-7092-FC79-8F83DAEA2C72}"/>
              </a:ext>
            </a:extLst>
          </p:cNvPr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Desemprego juvenil  +15,8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Taxa de desemprego  +4,7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Taxa de emprego  +0,6</a:t>
            </a:r>
          </a:p>
        </p:txBody>
      </p:sp>
      <p:sp>
        <p:nvSpPr>
          <p:cNvPr id="288" name="object 132">
            <a:extLst>
              <a:ext uri="{FF2B5EF4-FFF2-40B4-BE49-F238E27FC236}">
                <a16:creationId xmlns:a16="http://schemas.microsoft.com/office/drawing/2014/main" id="{F54645E8-CD9D-5504-466D-679F34EF956B}"/>
              </a:ext>
            </a:extLst>
          </p:cNvPr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Produtividade do trabalho  −9,8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Participação feminina  −1,7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2015–2025; leitura INE em 12_Emprego_INE)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91FF38E-D922-438A-4968-DD09E3B4F6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558885"/>
              </p:ext>
            </p:extLst>
          </p:nvPr>
        </p:nvGraphicFramePr>
        <p:xfrm>
          <a:off x="968508" y="1280804"/>
          <a:ext cx="4975091" cy="181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F4C36BD-BD99-91D0-56FE-7E677A213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880972"/>
              </p:ext>
            </p:extLst>
          </p:nvPr>
        </p:nvGraphicFramePr>
        <p:xfrm>
          <a:off x="1022529" y="3899107"/>
          <a:ext cx="5073471" cy="182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5DBA9D2-DD29-B23E-0F6B-BA23B03E33BC}"/>
              </a:ext>
            </a:extLst>
          </p:cNvPr>
          <p:cNvSpPr/>
          <p:nvPr/>
        </p:nvSpPr>
        <p:spPr>
          <a:xfrm>
            <a:off x="984037" y="3497849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  <a:endParaRPr lang="pt-AO" dirty="0"/>
          </a:p>
        </p:txBody>
      </p:sp>
      <p:sp>
        <p:nvSpPr>
          <p:cNvPr id="9" name="object 132">
            <a:extLst>
              <a:ext uri="{FF2B5EF4-FFF2-40B4-BE49-F238E27FC236}">
                <a16:creationId xmlns:a16="http://schemas.microsoft.com/office/drawing/2014/main" id="{11C14B09-E4D7-A663-9B34-3BAB1469A833}"/>
              </a:ext>
            </a:extLst>
          </p:cNvPr>
          <p:cNvSpPr txBox="1">
            <a:spLocks/>
          </p:cNvSpPr>
          <p:nvPr/>
        </p:nvSpPr>
        <p:spPr>
          <a:xfrm>
            <a:off x="1613619" y="3541181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Mercado de Trabalho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3431F185-7778-CB77-6622-159BED8A3BCD}"/>
              </a:ext>
            </a:extLst>
          </p:cNvPr>
          <p:cNvSpPr txBox="1">
            <a:spLocks/>
          </p:cNvSpPr>
          <p:nvPr/>
        </p:nvSpPr>
        <p:spPr>
          <a:xfrm>
            <a:off x="501472" y="7701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(3/4)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11" name="object 258">
            <a:extLst>
              <a:ext uri="{FF2B5EF4-FFF2-40B4-BE49-F238E27FC236}">
                <a16:creationId xmlns:a16="http://schemas.microsoft.com/office/drawing/2014/main" id="{EF70035F-4E9C-CB78-CF0F-04075AF5264E}"/>
              </a:ext>
            </a:extLst>
          </p:cNvPr>
          <p:cNvSpPr/>
          <p:nvPr/>
        </p:nvSpPr>
        <p:spPr>
          <a:xfrm>
            <a:off x="351615" y="23496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Gráfico 17" descr="Apresentação com gráfico de barras com preenchimento sólido">
            <a:extLst>
              <a:ext uri="{FF2B5EF4-FFF2-40B4-BE49-F238E27FC236}">
                <a16:creationId xmlns:a16="http://schemas.microsoft.com/office/drawing/2014/main" id="{27468158-5FD5-D20E-F1AB-881BA087E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31" y="2835408"/>
            <a:ext cx="534341" cy="4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6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1F5BE-9306-60C5-83BE-9CDC99EE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50642737-A1DC-26A5-48B2-73F1101E89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70DF1845-6876-A102-ED00-57884E7E350D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66E9906C-3F93-098E-800D-A6EC38128FE3}"/>
              </a:ext>
            </a:extLst>
          </p:cNvPr>
          <p:cNvSpPr txBox="1">
            <a:spLocks/>
          </p:cNvSpPr>
          <p:nvPr/>
        </p:nvSpPr>
        <p:spPr>
          <a:xfrm>
            <a:off x="439847" y="-27098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4 – DECOMPOSIÇÃO POR DIMENSÃO (4/4) </a:t>
            </a:r>
            <a:r>
              <a:rPr lang="pt-PT" sz="30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9717A89E-FCB9-1EC8-D0B3-D45947EDCFDF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4135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049EB31-93DF-E203-72A7-4AB7BEC9B1BE}"/>
              </a:ext>
            </a:extLst>
          </p:cNvPr>
          <p:cNvSpPr/>
          <p:nvPr/>
        </p:nvSpPr>
        <p:spPr>
          <a:xfrm>
            <a:off x="32198" y="3339475"/>
            <a:ext cx="645203" cy="72844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7E316420-1A64-BC77-99B2-00E50EDA9C50}"/>
              </a:ext>
            </a:extLst>
          </p:cNvPr>
          <p:cNvCxnSpPr>
            <a:cxnSpLocks/>
          </p:cNvCxnSpPr>
          <p:nvPr/>
        </p:nvCxnSpPr>
        <p:spPr>
          <a:xfrm flipH="1" flipV="1">
            <a:off x="253429" y="3188025"/>
            <a:ext cx="11862371" cy="36078"/>
          </a:xfrm>
          <a:prstGeom prst="line">
            <a:avLst/>
          </a:prstGeom>
          <a:ln w="28575">
            <a:solidFill>
              <a:schemeClr val="accent2">
                <a:alpha val="1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58B976CA-B6D3-4CB7-39BD-3BB53B4520CD}"/>
              </a:ext>
            </a:extLst>
          </p:cNvPr>
          <p:cNvGrpSpPr/>
          <p:nvPr/>
        </p:nvGrpSpPr>
        <p:grpSpPr>
          <a:xfrm>
            <a:off x="7024233" y="3268918"/>
            <a:ext cx="5102041" cy="2563749"/>
            <a:chOff x="6835374" y="508904"/>
            <a:chExt cx="5102041" cy="2563749"/>
          </a:xfrm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FCEEC67E-85C4-225A-23C6-AF0E3B0BC3EA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35" name="object 132">
              <a:extLst>
                <a:ext uri="{FF2B5EF4-FFF2-40B4-BE49-F238E27FC236}">
                  <a16:creationId xmlns:a16="http://schemas.microsoft.com/office/drawing/2014/main" id="{7938A2C7-7BE9-8235-E5B5-13574BD1E5CC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51" name="Conexão reta 50">
              <a:extLst>
                <a:ext uri="{FF2B5EF4-FFF2-40B4-BE49-F238E27FC236}">
                  <a16:creationId xmlns:a16="http://schemas.microsoft.com/office/drawing/2014/main" id="{5F5E931C-7225-9837-58C8-1B30BB721726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bject 132">
              <a:extLst>
                <a:ext uri="{FF2B5EF4-FFF2-40B4-BE49-F238E27FC236}">
                  <a16:creationId xmlns:a16="http://schemas.microsoft.com/office/drawing/2014/main" id="{CFE7BC20-822B-1A11-7D0A-E92222AC5E49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56" name="Gráfico 55" descr="Gráfico de barras com tendência descendente destaque">
              <a:extLst>
                <a:ext uri="{FF2B5EF4-FFF2-40B4-BE49-F238E27FC236}">
                  <a16:creationId xmlns:a16="http://schemas.microsoft.com/office/drawing/2014/main" id="{37CCA273-AE1E-204C-157D-015BD499AA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58" name="Gráfico 57" descr="Gráfico de barras com tendência ascendente destaque">
              <a:extLst>
                <a:ext uri="{FF2B5EF4-FFF2-40B4-BE49-F238E27FC236}">
                  <a16:creationId xmlns:a16="http://schemas.microsoft.com/office/drawing/2014/main" id="{9FE55A48-A8B5-A9A6-813C-673961D400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59" name="object 132">
            <a:extLst>
              <a:ext uri="{FF2B5EF4-FFF2-40B4-BE49-F238E27FC236}">
                <a16:creationId xmlns:a16="http://schemas.microsoft.com/office/drawing/2014/main" id="{7DED5A2C-578D-1C3E-BEBD-302D50700CD9}"/>
              </a:ext>
            </a:extLst>
          </p:cNvPr>
          <p:cNvSpPr txBox="1">
            <a:spLocks/>
          </p:cNvSpPr>
          <p:nvPr/>
        </p:nvSpPr>
        <p:spPr>
          <a:xfrm>
            <a:off x="1521709" y="776673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Segurança Alimentar e Saúde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0" name="object 132">
            <a:extLst>
              <a:ext uri="{FF2B5EF4-FFF2-40B4-BE49-F238E27FC236}">
                <a16:creationId xmlns:a16="http://schemas.microsoft.com/office/drawing/2014/main" id="{BE005778-3E83-A834-5E6A-DD7CAC8E6E71}"/>
              </a:ext>
            </a:extLst>
          </p:cNvPr>
          <p:cNvSpPr txBox="1">
            <a:spLocks/>
          </p:cNvSpPr>
          <p:nvPr/>
        </p:nvSpPr>
        <p:spPr>
          <a:xfrm>
            <a:off x="6989092" y="1167468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materna  +7,9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Mortalidade &lt; 5 anos  +6,4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Despesa em saúde  +1,6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Cobertura vacinal  +1,0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Despesa directa das famílias  +1,0</a:t>
            </a:r>
          </a:p>
        </p:txBody>
      </p:sp>
      <p:sp>
        <p:nvSpPr>
          <p:cNvPr id="286" name="object 132">
            <a:extLst>
              <a:ext uri="{FF2B5EF4-FFF2-40B4-BE49-F238E27FC236}">
                <a16:creationId xmlns:a16="http://schemas.microsoft.com/office/drawing/2014/main" id="{70C043AD-C1C9-F46D-3BDE-99BED6BED5F1}"/>
              </a:ext>
            </a:extLst>
          </p:cNvPr>
          <p:cNvSpPr txBox="1">
            <a:spLocks/>
          </p:cNvSpPr>
          <p:nvPr/>
        </p:nvSpPr>
        <p:spPr>
          <a:xfrm>
            <a:off x="9623875" y="1191384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Incidência de malária  −16,9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Desnutrição  −16,6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Cobertura vacinal (2023–25)  −10,0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2ED4805-5039-2BA8-B3C2-D14EF0F1460E}"/>
              </a:ext>
            </a:extLst>
          </p:cNvPr>
          <p:cNvSpPr/>
          <p:nvPr/>
        </p:nvSpPr>
        <p:spPr>
          <a:xfrm>
            <a:off x="951935" y="743322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  <a:endParaRPr lang="pt-AO" dirty="0"/>
          </a:p>
        </p:txBody>
      </p:sp>
      <p:sp>
        <p:nvSpPr>
          <p:cNvPr id="7" name="object 258">
            <a:extLst>
              <a:ext uri="{FF2B5EF4-FFF2-40B4-BE49-F238E27FC236}">
                <a16:creationId xmlns:a16="http://schemas.microsoft.com/office/drawing/2014/main" id="{31886E54-55B5-1596-8C4B-CF0C9F19B6F6}"/>
              </a:ext>
            </a:extLst>
          </p:cNvPr>
          <p:cNvSpPr/>
          <p:nvPr/>
        </p:nvSpPr>
        <p:spPr>
          <a:xfrm>
            <a:off x="309081" y="-11933"/>
            <a:ext cx="45719" cy="474489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Gráfico 12" descr="Distribuição normal com preenchimento sólido">
            <a:extLst>
              <a:ext uri="{FF2B5EF4-FFF2-40B4-BE49-F238E27FC236}">
                <a16:creationId xmlns:a16="http://schemas.microsoft.com/office/drawing/2014/main" id="{71F11580-2D40-1D85-B842-24E387A52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41" y="3573255"/>
            <a:ext cx="453237" cy="313728"/>
          </a:xfrm>
          <a:prstGeom prst="rect">
            <a:avLst/>
          </a:prstGeom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A45AFCE5-C556-AEA0-D041-E2E7B4401E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7486"/>
              </p:ext>
            </p:extLst>
          </p:nvPr>
        </p:nvGraphicFramePr>
        <p:xfrm>
          <a:off x="1045210" y="1276820"/>
          <a:ext cx="5031295" cy="181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DDA174-016E-E34A-A750-1EE4AF0CA9AF}"/>
              </a:ext>
            </a:extLst>
          </p:cNvPr>
          <p:cNvSpPr/>
          <p:nvPr/>
        </p:nvSpPr>
        <p:spPr>
          <a:xfrm>
            <a:off x="951934" y="3323971"/>
            <a:ext cx="503421" cy="3257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8</a:t>
            </a:r>
            <a:endParaRPr lang="pt-AO" dirty="0"/>
          </a:p>
        </p:txBody>
      </p:sp>
      <p:sp>
        <p:nvSpPr>
          <p:cNvPr id="12" name="object 132">
            <a:extLst>
              <a:ext uri="{FF2B5EF4-FFF2-40B4-BE49-F238E27FC236}">
                <a16:creationId xmlns:a16="http://schemas.microsoft.com/office/drawing/2014/main" id="{1A216810-D2DB-94C5-3D4E-D7C7A0E618A5}"/>
              </a:ext>
            </a:extLst>
          </p:cNvPr>
          <p:cNvSpPr txBox="1">
            <a:spLocks/>
          </p:cNvSpPr>
          <p:nvPr/>
        </p:nvSpPr>
        <p:spPr>
          <a:xfrm>
            <a:off x="1555237" y="3323971"/>
            <a:ext cx="26773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Diversificação</a:t>
            </a:r>
            <a:r>
              <a:rPr lang="pt-PT" sz="1600" i="1" kern="0" dirty="0">
                <a:solidFill>
                  <a:srgbClr val="CC0000"/>
                </a:solidFill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1600" i="1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858D454E-06E9-4E1A-A73F-19833CD16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166252"/>
              </p:ext>
            </p:extLst>
          </p:nvPr>
        </p:nvGraphicFramePr>
        <p:xfrm>
          <a:off x="951934" y="3664044"/>
          <a:ext cx="4627563" cy="182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B9732FA-EF11-433B-D41F-025247B926F7}"/>
              </a:ext>
            </a:extLst>
          </p:cNvPr>
          <p:cNvGrpSpPr/>
          <p:nvPr/>
        </p:nvGrpSpPr>
        <p:grpSpPr>
          <a:xfrm>
            <a:off x="6987774" y="661304"/>
            <a:ext cx="5102041" cy="2563749"/>
            <a:chOff x="6835374" y="508904"/>
            <a:chExt cx="5102041" cy="2563749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EE84D8A-96B5-5C61-CAB3-7314CCC2AD6C}"/>
                </a:ext>
              </a:extLst>
            </p:cNvPr>
            <p:cNvSpPr/>
            <p:nvPr/>
          </p:nvSpPr>
          <p:spPr>
            <a:xfrm>
              <a:off x="6856119" y="508904"/>
              <a:ext cx="5081296" cy="2563749"/>
            </a:xfrm>
            <a:prstGeom prst="rect">
              <a:avLst/>
            </a:prstGeom>
            <a:solidFill>
              <a:schemeClr val="bg1">
                <a:lumMod val="85000"/>
                <a:alpha val="4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AO" dirty="0"/>
            </a:p>
          </p:txBody>
        </p:sp>
        <p:sp>
          <p:nvSpPr>
            <p:cNvPr id="17" name="object 132">
              <a:extLst>
                <a:ext uri="{FF2B5EF4-FFF2-40B4-BE49-F238E27FC236}">
                  <a16:creationId xmlns:a16="http://schemas.microsoft.com/office/drawing/2014/main" id="{2588E54D-C08C-8AD1-CE54-A6DC7E1D1E82}"/>
                </a:ext>
              </a:extLst>
            </p:cNvPr>
            <p:cNvSpPr txBox="1">
              <a:spLocks/>
            </p:cNvSpPr>
            <p:nvPr/>
          </p:nvSpPr>
          <p:spPr>
            <a:xfrm>
              <a:off x="7521171" y="73024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Drivers Positivos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2F4B2313-2E96-F9D7-7472-CA5EFA6D8455}"/>
                </a:ext>
              </a:extLst>
            </p:cNvPr>
            <p:cNvCxnSpPr/>
            <p:nvPr/>
          </p:nvCxnSpPr>
          <p:spPr>
            <a:xfrm>
              <a:off x="9358333" y="730243"/>
              <a:ext cx="0" cy="22689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ject 132">
              <a:extLst>
                <a:ext uri="{FF2B5EF4-FFF2-40B4-BE49-F238E27FC236}">
                  <a16:creationId xmlns:a16="http://schemas.microsoft.com/office/drawing/2014/main" id="{E0528FC6-3F58-9A9A-B845-883CE5707B9D}"/>
                </a:ext>
              </a:extLst>
            </p:cNvPr>
            <p:cNvSpPr txBox="1">
              <a:spLocks/>
            </p:cNvSpPr>
            <p:nvPr/>
          </p:nvSpPr>
          <p:spPr>
            <a:xfrm>
              <a:off x="10175868" y="696153"/>
              <a:ext cx="142854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600" b="1" kern="0" dirty="0">
                  <a:solidFill>
                    <a:srgbClr val="CC0000"/>
                  </a:solidFill>
                  <a:latin typeface="Arial Narrow" panose="020B0606020202030204" pitchFamily="34" charset="0"/>
                  <a:cs typeface="DIN2014-DemiBold"/>
                </a:rPr>
                <a:t>Drivers Negativos</a:t>
              </a:r>
              <a:r>
                <a:rPr lang="pt-PT" sz="1600" b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 </a:t>
              </a:r>
              <a:r>
                <a:rPr lang="pt-PT" sz="1600" i="1" kern="0" dirty="0">
                  <a:solidFill>
                    <a:srgbClr val="00B050"/>
                  </a:solidFill>
                  <a:latin typeface="Arial Narrow" panose="020B0606020202030204" pitchFamily="34" charset="0"/>
                  <a:cs typeface="DIN2014-DemiBold"/>
                </a:rPr>
                <a:t> </a:t>
              </a:r>
              <a:endParaRPr kumimoji="0" lang="pt-PT" sz="1600" i="1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cs typeface="DIN2014-DemiBold"/>
              </a:endParaRPr>
            </a:p>
          </p:txBody>
        </p:sp>
        <p:pic>
          <p:nvPicPr>
            <p:cNvPr id="20" name="Gráfico 19" descr="Gráfico de barras com tendência descendente destaque">
              <a:extLst>
                <a:ext uri="{FF2B5EF4-FFF2-40B4-BE49-F238E27FC236}">
                  <a16:creationId xmlns:a16="http://schemas.microsoft.com/office/drawing/2014/main" id="{ECCB87A7-15F6-6EA6-C696-A18A7D1EFC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4495" y="527717"/>
              <a:ext cx="563495" cy="467402"/>
            </a:xfrm>
            <a:prstGeom prst="rect">
              <a:avLst/>
            </a:prstGeom>
          </p:spPr>
        </p:pic>
        <p:pic>
          <p:nvPicPr>
            <p:cNvPr id="21" name="Gráfico 20" descr="Gráfico de barras com tendência ascendente destaque">
              <a:extLst>
                <a:ext uri="{FF2B5EF4-FFF2-40B4-BE49-F238E27FC236}">
                  <a16:creationId xmlns:a16="http://schemas.microsoft.com/office/drawing/2014/main" id="{E1CA6511-D787-A5E1-57DA-29E21D3B8A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5374" y="550487"/>
              <a:ext cx="685797" cy="539825"/>
            </a:xfrm>
            <a:prstGeom prst="rect">
              <a:avLst/>
            </a:prstGeom>
          </p:spPr>
        </p:pic>
      </p:grpSp>
      <p:sp>
        <p:nvSpPr>
          <p:cNvPr id="901" name="object 132"/>
          <p:cNvSpPr txBox="1">
            <a:spLocks/>
          </p:cNvSpPr>
          <p:nvPr/>
        </p:nvSpPr>
        <p:spPr>
          <a:xfrm>
            <a:off x="6989092" y="4281336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PIB não petrolífero  +35,9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Indústria transformadora  +5,2</a:t>
            </a:r>
          </a:p>
        </p:txBody>
      </p:sp>
      <p:sp>
        <p:nvSpPr>
          <p:cNvPr id="902" name="object 132"/>
          <p:cNvSpPr txBox="1">
            <a:spLocks/>
          </p:cNvSpPr>
          <p:nvPr/>
        </p:nvSpPr>
        <p:spPr>
          <a:xfrm>
            <a:off x="9567920" y="4267500"/>
            <a:ext cx="224308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Crédito ao sector privado  −15,7</a:t>
            </a:r>
          </a:p>
          <a:p>
            <a:pPr marL="12700" indent="0">
              <a:lnSpc>
                <a:spcPct val="100000"/>
              </a:lnSpc>
              <a:spcBef>
                <a:spcPts val="350"/>
              </a:spcBef>
              <a:buNone/>
            </a:pPr>
            <a:r>
              <a:rPr lang="pt-PT" sz="1100" kern="0" dirty="0">
                <a:solidFill>
                  <a:srgbClr val="1A1A1A"/>
                </a:solidFill>
                <a:latin typeface="Arial Narrow" panose="020B0606020202030204" pitchFamily="34" charset="0"/>
                <a:cs typeface="DIN2014-DemiBold"/>
              </a:rPr>
              <a:t>Capacidades produtivas  −1,3</a:t>
            </a:r>
          </a:p>
          <a:p>
            <a:pPr marL="12700" indent="0">
              <a:lnSpc>
                <a:spcPct val="100000"/>
              </a:lnSpc>
              <a:spcBef>
                <a:spcPts val="250"/>
              </a:spcBef>
              <a:buNone/>
            </a:pPr>
            <a:r>
              <a:rPr lang="pt-PT" sz="9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Combustíveis nas exportações  −0,1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Exportações concentradas em combustíveis (score 5,9)</a:t>
            </a:r>
          </a:p>
          <a:p>
            <a:pPr marL="12700" indent="0">
              <a:lnSpc>
                <a:spcPct val="100000"/>
              </a:lnSpc>
              <a:spcBef>
                <a:spcPts val="550"/>
              </a:spcBef>
              <a:buNone/>
            </a:pPr>
            <a:r>
              <a:rPr lang="pt-PT" sz="800" i="1" kern="0" dirty="0">
                <a:solidFill>
                  <a:srgbClr val="595959"/>
                </a:solidFill>
                <a:latin typeface="Arial Narrow" panose="020B0606020202030204" pitchFamily="34" charset="0"/>
                <a:cs typeface="DIN2014-DemiBold"/>
              </a:rPr>
              <a:t>(Δ do score normalizado, p.p., 2015–2025)</a:t>
            </a:r>
          </a:p>
        </p:txBody>
      </p:sp>
    </p:spTree>
    <p:extLst>
      <p:ext uri="{BB962C8B-B14F-4D97-AF65-F5344CB8AC3E}">
        <p14:creationId xmlns:p14="http://schemas.microsoft.com/office/powerpoint/2010/main" val="813350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17CB8-E558-7EB8-4528-F10D48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AD881EC0-5063-5813-5F7C-490FBD8F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B757593A-F219-50AF-B69E-A0C7A1379BD9}"/>
              </a:ext>
            </a:extLst>
          </p:cNvPr>
          <p:cNvSpPr/>
          <p:nvPr/>
        </p:nvSpPr>
        <p:spPr>
          <a:xfrm>
            <a:off x="0" y="366995"/>
            <a:ext cx="295744" cy="2942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5 – LIMITAÇÕES E PRÓXIMOS PASSOS  </a:t>
            </a:r>
            <a:r>
              <a:rPr lang="pt-PT" sz="3000" b="1" u="sng" kern="0" dirty="0">
                <a:latin typeface="Arial Narrow" panose="020B0606020202030204" pitchFamily="34" charset="0"/>
                <a:cs typeface="DIN2014-DemiBold"/>
              </a:rPr>
              <a:t>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B11F6DA7-4611-D360-13AB-6C752AEA693A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CC55E-8011-0988-ED75-254B97BFC8F7}"/>
              </a:ext>
            </a:extLst>
          </p:cNvPr>
          <p:cNvSpPr/>
          <p:nvPr/>
        </p:nvSpPr>
        <p:spPr>
          <a:xfrm>
            <a:off x="5910301" y="3902293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7B438DF-C1E1-013D-0870-9B1A3691B1C7}"/>
              </a:ext>
            </a:extLst>
          </p:cNvPr>
          <p:cNvSpPr/>
          <p:nvPr/>
        </p:nvSpPr>
        <p:spPr>
          <a:xfrm>
            <a:off x="21463" y="914528"/>
            <a:ext cx="990599" cy="73150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14" name="Gráfico 13" descr="Perguntas com preenchimento sólido">
            <a:extLst>
              <a:ext uri="{FF2B5EF4-FFF2-40B4-BE49-F238E27FC236}">
                <a16:creationId xmlns:a16="http://schemas.microsoft.com/office/drawing/2014/main" id="{AAF31DF1-22EE-6965-4DE3-615280F5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429" y="921429"/>
            <a:ext cx="574824" cy="55411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CCF921-7CBB-E744-2DAC-704EAE3AF0F4}"/>
              </a:ext>
            </a:extLst>
          </p:cNvPr>
          <p:cNvSpPr/>
          <p:nvPr/>
        </p:nvSpPr>
        <p:spPr>
          <a:xfrm>
            <a:off x="90775" y="2970427"/>
            <a:ext cx="11639052" cy="32364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AD790B88-FF78-7613-2FED-762A380C7C1B}"/>
              </a:ext>
            </a:extLst>
          </p:cNvPr>
          <p:cNvCxnSpPr>
            <a:cxnSpLocks/>
          </p:cNvCxnSpPr>
          <p:nvPr/>
        </p:nvCxnSpPr>
        <p:spPr>
          <a:xfrm>
            <a:off x="372530" y="3657600"/>
            <a:ext cx="11221021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155BCC5-5186-4240-21F6-9F6A1748A0E4}"/>
              </a:ext>
            </a:extLst>
          </p:cNvPr>
          <p:cNvSpPr/>
          <p:nvPr/>
        </p:nvSpPr>
        <p:spPr>
          <a:xfrm>
            <a:off x="1189397" y="724514"/>
            <a:ext cx="10404154" cy="21564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190500" dist="635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kern="0" dirty="0">
                <a:solidFill>
                  <a:srgbClr val="1A1A1A"/>
                </a:solidFill>
              </a:rPr>
              <a:t>O índice está operacional, auditável e replicável: o construtor em Excel está integralmente ligado por fórmulas e qualquer recalibração propaga-se automaticamente até ao resultado.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pt-PT" sz="1300" b="1" kern="0" dirty="0">
                <a:solidFill>
                  <a:srgbClr val="1A1A1A"/>
                </a:solidFill>
              </a:rPr>
              <a:t>A leitura dos níveis deve, porém, ter em conta as limitações seguintes — já com programa de mitigação definido.</a:t>
            </a:r>
          </a:p>
        </p:txBody>
      </p:sp>
      <p:sp>
        <p:nvSpPr>
          <p:cNvPr id="35" name="object 132">
            <a:extLst>
              <a:ext uri="{FF2B5EF4-FFF2-40B4-BE49-F238E27FC236}">
                <a16:creationId xmlns:a16="http://schemas.microsoft.com/office/drawing/2014/main" id="{003F5ABA-D790-247A-AA7B-9D3E6ADE0D61}"/>
              </a:ext>
            </a:extLst>
          </p:cNvPr>
          <p:cNvSpPr txBox="1">
            <a:spLocks/>
          </p:cNvSpPr>
          <p:nvPr/>
        </p:nvSpPr>
        <p:spPr>
          <a:xfrm>
            <a:off x="763199" y="3188088"/>
            <a:ext cx="101334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Limitações actuais e programa de aperfeiçoamento</a:t>
            </a:r>
            <a:endParaRPr kumimoji="0" lang="pt-PT" i="1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261" name="object 132">
            <a:extLst>
              <a:ext uri="{FF2B5EF4-FFF2-40B4-BE49-F238E27FC236}">
                <a16:creationId xmlns:a16="http://schemas.microsoft.com/office/drawing/2014/main" id="{7A8CE5E5-3898-9DFB-0CA0-7A4F847CDA54}"/>
              </a:ext>
            </a:extLst>
          </p:cNvPr>
          <p:cNvSpPr txBox="1">
            <a:spLocks/>
          </p:cNvSpPr>
          <p:nvPr/>
        </p:nvSpPr>
        <p:spPr>
          <a:xfrm>
            <a:off x="6275131" y="3951277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1E7B34"/>
                </a:solidFill>
              </a:rPr>
              <a:t>Próximos passos (v8 → v9)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Concluído (v8): metas 2027 alinhadas com o PDN; séries de dívida/saldo com fonte oficial (FMI WEO); leitura INE do emprego (folha 12)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Actualizar emprego quando a OIT incorporar o IEA 2025 (Nov-2026); a partir de 2028 avaliar séries INE no índice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Inclusão: obter série anual INSS 2015-2025 e próximo inquérito de despesas (pobreza)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Substituir a escolaridade obrigatória (variável legal) por um indicador de resultado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Rever 2024–2025 com dados definitivos; executar a análise de sensibilidade (passo 7 OCDE/JRC)</a:t>
            </a: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32">
            <a:extLst>
              <a:ext uri="{FF2B5EF4-FFF2-40B4-BE49-F238E27FC236}">
                <a16:creationId xmlns:a16="http://schemas.microsoft.com/office/drawing/2014/main" id="{9DFFCA7A-4DDA-BED2-F2E1-DAACA029C69E}"/>
              </a:ext>
            </a:extLst>
          </p:cNvPr>
          <p:cNvSpPr txBox="1">
            <a:spLocks/>
          </p:cNvSpPr>
          <p:nvPr/>
        </p:nvSpPr>
        <p:spPr>
          <a:xfrm>
            <a:off x="649854" y="4014681"/>
            <a:ext cx="5270726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pt-PT" sz="1300" b="1" kern="0" dirty="0">
                <a:solidFill>
                  <a:srgbClr val="B02A0C"/>
                </a:solidFill>
              </a:rPr>
              <a:t>Limitações actuais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2025 provisório — 20 dos 41 indicadores entram por extrapolação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Quebra de série no IEA (nova metodologia desde o IV trim 2025) e rebasing do PIB (INE 2025)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Inclusão Social com 3 indicadores: pobreza, Kwenda e INSS documentados mas sem série elegível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Níveis não comparáveis entre dimensões: cada uma tem goalposts próprios</a:t>
            </a:r>
          </a:p>
          <a:p>
            <a:pPr marL="171450" indent="-171450">
              <a:lnSpc>
                <a:spcPct val="100000"/>
              </a:lnSpc>
              <a:spcBef>
                <a:spcPts val="400"/>
              </a:spcBef>
              <a:buNone/>
            </a:pPr>
            <a:r>
              <a:rPr lang="pt-PT" sz="1150" kern="0" dirty="0"/>
              <a:t>•  Sensibilidade às escolhas de desenho ainda não quantificada</a:t>
            </a:r>
          </a:p>
        </p:txBody>
      </p:sp>
    </p:spTree>
    <p:extLst>
      <p:ext uri="{BB962C8B-B14F-4D97-AF65-F5344CB8AC3E}">
        <p14:creationId xmlns:p14="http://schemas.microsoft.com/office/powerpoint/2010/main" val="98632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C92461-B1FF-B23A-8EB2-258021AD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Imagem 257">
            <a:extLst>
              <a:ext uri="{FF2B5EF4-FFF2-40B4-BE49-F238E27FC236}">
                <a16:creationId xmlns:a16="http://schemas.microsoft.com/office/drawing/2014/main" id="{6AEE54F1-76EE-F782-713B-5E373B40A7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59" name="object 131">
            <a:extLst>
              <a:ext uri="{FF2B5EF4-FFF2-40B4-BE49-F238E27FC236}">
                <a16:creationId xmlns:a16="http://schemas.microsoft.com/office/drawing/2014/main" id="{9660C5B4-2A90-B8AC-3DFA-D9BD09460C95}"/>
              </a:ext>
            </a:extLst>
          </p:cNvPr>
          <p:cNvSpPr/>
          <p:nvPr/>
        </p:nvSpPr>
        <p:spPr>
          <a:xfrm>
            <a:off x="0" y="366995"/>
            <a:ext cx="253429" cy="363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132">
            <a:extLst>
              <a:ext uri="{FF2B5EF4-FFF2-40B4-BE49-F238E27FC236}">
                <a16:creationId xmlns:a16="http://schemas.microsoft.com/office/drawing/2014/main" id="{43206EE4-6712-36D4-993A-C5FF7C4D5404}"/>
              </a:ext>
            </a:extLst>
          </p:cNvPr>
          <p:cNvSpPr txBox="1">
            <a:spLocks/>
          </p:cNvSpPr>
          <p:nvPr/>
        </p:nvSpPr>
        <p:spPr>
          <a:xfrm>
            <a:off x="126714" y="877885"/>
            <a:ext cx="1797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2014-DemiBold"/>
                <a:ea typeface="+mj-ea"/>
                <a:cs typeface="DIN2014-DemiBold"/>
              </a:rPr>
              <a:t> 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IN2014-DemiBold"/>
              <a:ea typeface="+mj-ea"/>
              <a:cs typeface="DIN2014-D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05FAEC-5396-5E35-F5F0-535862A67168}"/>
              </a:ext>
            </a:extLst>
          </p:cNvPr>
          <p:cNvSpPr/>
          <p:nvPr/>
        </p:nvSpPr>
        <p:spPr>
          <a:xfrm>
            <a:off x="5899150" y="3807171"/>
            <a:ext cx="5683250" cy="2329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pic>
        <p:nvPicPr>
          <p:cNvPr id="25" name="Gráfico 24" descr="Pódio com preenchimento sólido">
            <a:extLst>
              <a:ext uri="{FF2B5EF4-FFF2-40B4-BE49-F238E27FC236}">
                <a16:creationId xmlns:a16="http://schemas.microsoft.com/office/drawing/2014/main" id="{264074D7-68BB-B1D8-848B-6E46E288D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789" y="5243930"/>
            <a:ext cx="545927" cy="554114"/>
          </a:xfrm>
          <a:prstGeom prst="rect">
            <a:avLst/>
          </a:prstGeom>
        </p:spPr>
      </p:pic>
      <p:sp>
        <p:nvSpPr>
          <p:cNvPr id="29" name="object 132">
            <a:extLst>
              <a:ext uri="{FF2B5EF4-FFF2-40B4-BE49-F238E27FC236}">
                <a16:creationId xmlns:a16="http://schemas.microsoft.com/office/drawing/2014/main" id="{F9FA76A8-F518-99D4-F750-695685216C9B}"/>
              </a:ext>
            </a:extLst>
          </p:cNvPr>
          <p:cNvSpPr txBox="1">
            <a:spLocks/>
          </p:cNvSpPr>
          <p:nvPr/>
        </p:nvSpPr>
        <p:spPr>
          <a:xfrm>
            <a:off x="3174605" y="1941173"/>
            <a:ext cx="5959482" cy="566822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3600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Obrigado</a:t>
            </a:r>
            <a:r>
              <a:rPr lang="pt-PT" sz="2400" b="1" kern="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cs typeface="DIN2014-DemiBold"/>
              </a:rPr>
              <a:t>. </a:t>
            </a:r>
            <a:endParaRPr kumimoji="0" lang="pt-PT" sz="2400" b="0" i="0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30271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739"/>
            <a:ext cx="12192000" cy="661261"/>
          </a:xfrm>
          <a:prstGeom prst="rect">
            <a:avLst/>
          </a:prstGeom>
        </p:spPr>
      </p:pic>
      <p:sp>
        <p:nvSpPr>
          <p:cNvPr id="260" name="object 132">
            <a:extLst>
              <a:ext uri="{FF2B5EF4-FFF2-40B4-BE49-F238E27FC236}">
                <a16:creationId xmlns:a16="http://schemas.microsoft.com/office/drawing/2014/main" id="{12939093-035A-5190-A0B7-DBF5C78E6508}"/>
              </a:ext>
            </a:extLst>
          </p:cNvPr>
          <p:cNvSpPr txBox="1">
            <a:spLocks/>
          </p:cNvSpPr>
          <p:nvPr/>
        </p:nvSpPr>
        <p:spPr>
          <a:xfrm>
            <a:off x="559886" y="98690"/>
            <a:ext cx="1168428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u="sng" kern="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  <a:cs typeface="DIN2014-DemiBold"/>
              </a:rPr>
              <a:t>3 – CRUZAMENTO COM O PDN 2023-2027 _2023 – 2025   </a:t>
            </a:r>
            <a:endParaRPr kumimoji="0" lang="pt-PT" sz="3000" b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6" name="object 258">
            <a:extLst>
              <a:ext uri="{FF2B5EF4-FFF2-40B4-BE49-F238E27FC236}">
                <a16:creationId xmlns:a16="http://schemas.microsoft.com/office/drawing/2014/main" id="{D8C9B5BA-752D-80BF-CBA3-5C794AB75C27}"/>
              </a:ext>
            </a:extLst>
          </p:cNvPr>
          <p:cNvSpPr/>
          <p:nvPr/>
        </p:nvSpPr>
        <p:spPr>
          <a:xfrm>
            <a:off x="351615" y="23496"/>
            <a:ext cx="45719" cy="57733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559886" y="700000"/>
            <a:ext cx="11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3864"/>
                </a:solidFill>
              </a:rPr>
              <a:t>Em seis das oito dimensões o IGDA e o Balanço do PDN contam a mesma história — uma validação externa da construção. Nos dois pilares do PDN as leituras divergem: o capital humano avança devagar e a segurança alimentar regride nos indicadores de processo antes de as metas de mortalidade o reflectirem.</a:t>
            </a:r>
          </a:p>
        </p:txBody>
      </p:sp>
      <p:graphicFrame>
        <p:nvGraphicFramePr>
          <p:cNvPr id="262" name="Table 261"/>
          <p:cNvGraphicFramePr>
            <a:graphicFrameLocks noGrp="1"/>
          </p:cNvGraphicFramePr>
          <p:nvPr/>
        </p:nvGraphicFramePr>
        <p:xfrm>
          <a:off x="559886" y="1400000"/>
          <a:ext cx="111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900000"/>
                <a:gridCol w="3400000"/>
                <a:gridCol w="1800000"/>
              </a:tblGrid>
              <a:tr h="466666">
                <a:tc>
                  <a:txBody>
                    <a:bodyPr/>
                    <a:lstStyle/>
                    <a:p>
                      <a:r>
                        <a:rPr sz="1100" b="1"/>
                        <a:t>Dimensão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PDN 2023-2027 e Balanço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IGDA 2023–2025 (v8)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Veredicto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IPC 33 → 34; percentis WGI +4 a +7 p.p.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−0,4 p.p.; estabilidade política −5,2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Consistente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Macroeconomia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Dívida 60% do PIB superada (FMI 51,3%); inflação 15,7% Dez-25; défice 4,1%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+2,7 p.p.; dívida +16,3, inflação −13,0, saldo −6,3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Consistente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Capital Humano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Esperança de vida 62 → 63; educação 11,8% da despesa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+0,4 p.p.; despesa em educação em queda (OGE 1,7% PIB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Consistente, alerta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Inclusão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Pobreza 31 → 28%; Kwenda 1,35 M agregados (meta 1,8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+3,9 p.p., só por representação política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Parcial — não mede pobreza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Infraestruturas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Electrificação 43 → 49% (48% em 2025); PIP paralisado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+1,0 p.p., lento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Consistente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Mercado de Trabalho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Desemprego 30 → 25%: 28,3% (2025, IEA); 20,1% nova metodologia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−0,2 p.p.; leitura INE melhora — desfasamento 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Inconsistente — vintage + produtividade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900"/>
                        <a:t>Saúde e Seg. Alimentar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Mortalidade &lt;5 69 → 51; materna 199 → 165; vacinação 76% vs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−1,2 p.p.; vacinal −10,0, malária e desnutrição pesam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Consistente — alerta principal</a:t>
                      </a:r>
                    </a:p>
                  </a:txBody>
                  <a:tcPr/>
                </a:tc>
              </a:tr>
              <a:tr h="466672">
                <a:tc>
                  <a:txBody>
                    <a:bodyPr/>
                    <a:lstStyle/>
                    <a:p>
                      <a:r>
                        <a:rPr sz="900"/>
                        <a:t>Diversificação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Não petrolífero 4,6%/ano (5,2% em 2025); IDE e exportações aquém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+1,5 p.p.; PIB n.p. +10,8; crédito −1,1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Parcial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559886" y="5680000"/>
            <a:ext cx="11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/>
              <a:t>Fontes: PDN 2023-2027 (Diário da República); MINPLAN, Balanço do PDN (I trim e anual 2025: 1 036 indicadores, 856 sem execução reportada); INE (CN 2025, IPCN, IEA); FMI Art. IV 2026; construtor IGDA-BDA v8.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2224FACC55B64EA3EE420510FDFE23" ma:contentTypeVersion="3" ma:contentTypeDescription="Criar um novo documento." ma:contentTypeScope="" ma:versionID="85087ee57eed0a7cc3a70fcbab29a502">
  <xsd:schema xmlns:xsd="http://www.w3.org/2001/XMLSchema" xmlns:xs="http://www.w3.org/2001/XMLSchema" xmlns:p="http://schemas.microsoft.com/office/2006/metadata/properties" xmlns:ns2="083a1b34-388c-4e4c-aa22-c8ea837a5423" targetNamespace="http://schemas.microsoft.com/office/2006/metadata/properties" ma:root="true" ma:fieldsID="701bb8e69e6708ee3a9090365a1778b9" ns2:_="">
    <xsd:import namespace="083a1b34-388c-4e4c-aa22-c8ea837a5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a1b34-388c-4e4c-aa22-c8ea837a5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4B8990-FBF8-4380-84B4-DC52E5C4310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B9E9F-9470-40FB-8D5F-F25B02C25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73D818-AA2A-4D88-9279-067D6F35D6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3a1b34-388c-4e4c-aa22-c8ea837a5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59560</TotalTime>
  <Words>817</Words>
  <Application>Microsoft Office PowerPoint</Application>
  <PresentationFormat>Ecrã Panorâmico</PresentationFormat>
  <Paragraphs>159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11</vt:i4>
      </vt:variant>
    </vt:vector>
  </HeadingPairs>
  <TitlesOfParts>
    <vt:vector size="20" baseType="lpstr">
      <vt:lpstr>Arial</vt:lpstr>
      <vt:lpstr>Arial </vt:lpstr>
      <vt:lpstr>Arial Narrow</vt:lpstr>
      <vt:lpstr>Calibri</vt:lpstr>
      <vt:lpstr>DIN 2014</vt:lpstr>
      <vt:lpstr>DIN2014-DemiBold</vt:lpstr>
      <vt:lpstr>DM Sans</vt:lpstr>
      <vt:lpstr>Office Theme</vt:lpstr>
      <vt:lpstr>1_Office Theme</vt:lpstr>
      <vt:lpstr>Apresentação do PowerPoint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Apresentacao BDA 2;</dc:title>
  <dc:creator>Osvaldo A. Inacio</dc:creator>
  <cp:lastModifiedBy>Alberto Mateus (GEP)</cp:lastModifiedBy>
  <cp:revision>915</cp:revision>
  <cp:lastPrinted>2025-03-12T14:47:03Z</cp:lastPrinted>
  <dcterms:created xsi:type="dcterms:W3CDTF">2021-01-28T09:38:30Z</dcterms:created>
  <dcterms:modified xsi:type="dcterms:W3CDTF">2026-08-17T14:28:35Z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2021-01-27T00:00:00Z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2021-01-28T00:00:00Z</vt:filetime>
  </property>
  <property fmtid="{D5CDD505-2E9C-101B-9397-08002B2CF9AE}" pid="5" name="MSIP_Label_eb7992e3-e0e1-4341-bf60-8e57bf2032c5_Enabled">
    <vt:lpwstr>true</vt:lpwstr>
  </property>
  <property fmtid="{D5CDD505-2E9C-101B-9397-08002B2CF9AE}" pid="6" name="MSIP_Label_eb7992e3-e0e1-4341-bf60-8e57bf2032c5_SetDate">
    <vt:lpwstr>2026-05-04T13:46:20Z</vt:lpwstr>
  </property>
  <property fmtid="{D5CDD505-2E9C-101B-9397-08002B2CF9AE}" pid="7" name="MSIP_Label_eb7992e3-e0e1-4341-bf60-8e57bf2032c5_Method">
    <vt:lpwstr>Privileged</vt:lpwstr>
  </property>
  <property fmtid="{D5CDD505-2E9C-101B-9397-08002B2CF9AE}" pid="8" name="MSIP_Label_eb7992e3-e0e1-4341-bf60-8e57bf2032c5_Name">
    <vt:lpwstr>Informação Pública</vt:lpwstr>
  </property>
  <property fmtid="{D5CDD505-2E9C-101B-9397-08002B2CF9AE}" pid="9" name="MSIP_Label_eb7992e3-e0e1-4341-bf60-8e57bf2032c5_SiteId">
    <vt:lpwstr>c23fa617-d0cf-4c92-a529-5e444a4cc1fa</vt:lpwstr>
  </property>
  <property fmtid="{D5CDD505-2E9C-101B-9397-08002B2CF9AE}" pid="10" name="MSIP_Label_eb7992e3-e0e1-4341-bf60-8e57bf2032c5_ActionId">
    <vt:lpwstr>f51fed9c-24e9-4d8a-a7c6-5dc9719ff98c</vt:lpwstr>
  </property>
  <property fmtid="{D5CDD505-2E9C-101B-9397-08002B2CF9AE}" pid="11" name="MSIP_Label_eb7992e3-e0e1-4341-bf60-8e57bf2032c5_ContentBits">
    <vt:lpwstr>0</vt:lpwstr>
  </property>
  <property fmtid="{D5CDD505-2E9C-101B-9397-08002B2CF9AE}" pid="12" name="MSIP_Label_eb7992e3-e0e1-4341-bf60-8e57bf2032c5_Tag">
    <vt:lpwstr>10, 0, 1, 1</vt:lpwstr>
  </property>
  <property fmtid="{D5CDD505-2E9C-101B-9397-08002B2CF9AE}" pid="13" name="ContentTypeId">
    <vt:lpwstr>0x010100762224FACC55B64EA3EE420510FDFE23</vt:lpwstr>
  </property>
</Properties>
</file>